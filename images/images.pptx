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63" r:id="rId16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208" y="8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C2D8B-8A70-2452-DDE3-1550EE659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525F4-7C7B-F8EA-0167-4BCAF7D302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D2560-BF92-2FFF-DD83-7A1E66C1E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7C1E-2281-8F4E-9AF1-67A4E97C491A}" type="datetimeFigureOut">
              <a:rPr lang="en-BR" smtClean="0"/>
              <a:t>10/04/26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BE34A-F210-808E-5F48-7AEB7A4C7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25B5A-E9B1-99EC-8F2D-94E8DBD79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496FD-FFB4-624E-9BF9-21A84BA1AD69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984569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494BD-979B-0964-97C0-ADC88FBA0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5910B-DE75-E246-141D-F5BA54DF1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4CCA3-7434-2EB4-5D7E-1F20D94C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7C1E-2281-8F4E-9AF1-67A4E97C491A}" type="datetimeFigureOut">
              <a:rPr lang="en-BR" smtClean="0"/>
              <a:t>10/04/26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36AA6-7DC0-619F-4D28-C40DA5833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5C82B-0F25-C656-7416-33FFB84AE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496FD-FFB4-624E-9BF9-21A84BA1AD69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6349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D29A-6318-FBEC-B7AB-891B5A8C4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5E8C3-A418-5868-0B7F-4F35B5B4B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C8F00-78DE-B081-093C-37660DF33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7C1E-2281-8F4E-9AF1-67A4E97C491A}" type="datetimeFigureOut">
              <a:rPr lang="en-BR" smtClean="0"/>
              <a:t>10/04/26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524B5-E575-0C74-122D-5E22FF4E6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8755A-1C90-AF19-7D5A-28A7C1F4B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496FD-FFB4-624E-9BF9-21A84BA1AD69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55839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72665-2FD5-E532-0D16-52263E5E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9B557-0053-0B34-D78A-F482F8951D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0D758-2F4D-06E7-6F65-DF536E5AC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F2A8B-99F0-B472-5791-F766C5CD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7C1E-2281-8F4E-9AF1-67A4E97C491A}" type="datetimeFigureOut">
              <a:rPr lang="en-BR" smtClean="0"/>
              <a:t>10/04/26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C9E19-0298-F2F7-9124-C681C0696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5555F-4F11-C61B-66B0-64E07E95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496FD-FFB4-624E-9BF9-21A84BA1AD69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30002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296DE-BD74-5AFC-29EE-F1B00954C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11734-1FAF-ACC7-C59E-5ED686D9E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AFB57-D931-CC15-E9DB-56C538E75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88283-7390-9E5B-EA4A-89A8AF7886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314E82-0B74-FECA-9A51-AB22875E9F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B1BA2F-59CC-1A76-027F-EED9CD92A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7C1E-2281-8F4E-9AF1-67A4E97C491A}" type="datetimeFigureOut">
              <a:rPr lang="en-BR" smtClean="0"/>
              <a:t>10/04/26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E04B72-3047-2E23-204D-0B02A2EF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59C67F-7E80-91FD-FB85-886B4FAB4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496FD-FFB4-624E-9BF9-21A84BA1AD69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2019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2D28E-3EFC-8C15-0D6D-B25FC0C65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A6F2A-255F-25FA-D8E8-DF618BEB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7C1E-2281-8F4E-9AF1-67A4E97C491A}" type="datetimeFigureOut">
              <a:rPr lang="en-BR" smtClean="0"/>
              <a:t>10/04/26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F514F-DCE3-6F1D-4ABF-AF96D864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0A47A-6AD9-D8A2-25C9-22C61CD3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496FD-FFB4-624E-9BF9-21A84BA1AD69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07823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E9373F-894D-CA2D-9AFF-BA11BE9D5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7C1E-2281-8F4E-9AF1-67A4E97C491A}" type="datetimeFigureOut">
              <a:rPr lang="en-BR" smtClean="0"/>
              <a:t>10/04/26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5DA9E-BC53-4E4B-2050-C5544348D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B37B0-8485-2252-5B06-749EFFA1C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496FD-FFB4-624E-9BF9-21A84BA1AD69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24220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52F5D-A2F3-0244-295B-3986B783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42DD2-FFF7-8939-D609-6DAC36C23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3CE4E-EE77-1A74-29F3-C22936EC0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7A2D7-2B5F-BC46-B241-EA2E51006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7C1E-2281-8F4E-9AF1-67A4E97C491A}" type="datetimeFigureOut">
              <a:rPr lang="en-BR" smtClean="0"/>
              <a:t>10/04/26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C9D6A-71D5-B8D7-7503-F4381B096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394CE-AB4C-B2DC-B0F1-E6158927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496FD-FFB4-624E-9BF9-21A84BA1AD69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82422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5769E-7DF1-5F4C-888F-FE241A4BF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627FEF-FDEF-2BC1-4733-348CC1D27E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203B5C-06DE-5308-C45B-CD6D8C2AB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CD404-4330-C2A8-DFD7-CA21A9147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7C1E-2281-8F4E-9AF1-67A4E97C491A}" type="datetimeFigureOut">
              <a:rPr lang="en-BR" smtClean="0"/>
              <a:t>10/04/26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25F31-EF57-5970-2367-7CFF7BA51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D089D-ABE1-B402-6638-987985F5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496FD-FFB4-624E-9BF9-21A84BA1AD69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6469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288A6-3B1F-C9E0-288B-25920FE23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5F665-6FD9-AC37-3714-77CFF0B36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88433-D1E2-2738-C3E6-EDFF372E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7C1E-2281-8F4E-9AF1-67A4E97C491A}" type="datetimeFigureOut">
              <a:rPr lang="en-BR" smtClean="0"/>
              <a:t>10/04/26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67647-DA11-77D2-FE03-BD3AFFE4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B7126-AA8F-C4B9-D839-08B967BD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496FD-FFB4-624E-9BF9-21A84BA1AD69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95640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3E4BA5-95EE-7145-A4E3-695D0CBA71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94ACB-750B-5929-33FE-A5772283F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78336-8DF8-B1EF-DF69-5C78D54F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7C1E-2281-8F4E-9AF1-67A4E97C491A}" type="datetimeFigureOut">
              <a:rPr lang="en-BR" smtClean="0"/>
              <a:t>10/04/26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AB028-A3D4-D45A-58B7-6E4C834C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7AC3E-9E79-C3C3-3796-A2359FB12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496FD-FFB4-624E-9BF9-21A84BA1AD69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9647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E19A4D-EFFF-0340-1313-E9BAF37B4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F548F-C292-98AC-6755-FF03FC839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AAEF2-F3C3-CB4C-6F5B-5DFA3091C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97C1E-2281-8F4E-9AF1-67A4E97C491A}" type="datetimeFigureOut">
              <a:rPr lang="en-BR" smtClean="0"/>
              <a:t>10/04/26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F3A31-4E1B-BC03-3B63-024AD7A94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C2F6C-94B4-4E16-9186-CDA98BFF5D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496FD-FFB4-624E-9BF9-21A84BA1AD69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7689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6.sv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svg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906B2D6D-E6A3-4FCB-4C26-837478B6F2A4}"/>
              </a:ext>
            </a:extLst>
          </p:cNvPr>
          <p:cNvGrpSpPr/>
          <p:nvPr/>
        </p:nvGrpSpPr>
        <p:grpSpPr>
          <a:xfrm>
            <a:off x="1014681" y="1328288"/>
            <a:ext cx="9941240" cy="5061613"/>
            <a:chOff x="1014681" y="1328288"/>
            <a:chExt cx="9941240" cy="5061613"/>
          </a:xfrm>
        </p:grpSpPr>
        <p:sp>
          <p:nvSpPr>
            <p:cNvPr id="43" name="Rounded Rectangle 12">
              <a:extLst>
                <a:ext uri="{FF2B5EF4-FFF2-40B4-BE49-F238E27FC236}">
                  <a16:creationId xmlns:a16="http://schemas.microsoft.com/office/drawing/2014/main" id="{460B37A7-6766-A4A1-7F80-B6E57095F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4639264" y="1328288"/>
              <a:ext cx="3003196" cy="2756330"/>
            </a:xfrm>
            <a:prstGeom prst="roundRect">
              <a:avLst>
                <a:gd name="adj" fmla="val 5727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9144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10155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281933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44" name="Rectangle: Rounded Corners 12">
              <a:extLst>
                <a:ext uri="{FF2B5EF4-FFF2-40B4-BE49-F238E27FC236}">
                  <a16:creationId xmlns:a16="http://schemas.microsoft.com/office/drawing/2014/main" id="{5C9BFD5C-7677-C960-B862-A428CD63CD86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004870" y="2184670"/>
              <a:ext cx="2282458" cy="369332"/>
            </a:xfrm>
            <a:prstGeom prst="roundRect">
              <a:avLst>
                <a:gd name="adj" fmla="val 31494"/>
              </a:avLst>
            </a:prstGeom>
            <a:solidFill>
              <a:srgbClr val="8661C5"/>
            </a:solidFill>
            <a:ln w="12700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0" tIns="0" rIns="0" bIns="18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00" b="0" i="0" u="none" strike="noStrike" cap="none" spc="0" normalizeH="0" baseline="0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LLM</a:t>
              </a:r>
            </a:p>
          </p:txBody>
        </p:sp>
        <p:sp>
          <p:nvSpPr>
            <p:cNvPr id="45" name="Rectangle: Rounded Corners 12">
              <a:extLst>
                <a:ext uri="{FF2B5EF4-FFF2-40B4-BE49-F238E27FC236}">
                  <a16:creationId xmlns:a16="http://schemas.microsoft.com/office/drawing/2014/main" id="{1C281262-CB4D-33C2-B87E-7BC4732B7C48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004870" y="2829708"/>
              <a:ext cx="2282458" cy="369332"/>
            </a:xfrm>
            <a:prstGeom prst="roundRect">
              <a:avLst>
                <a:gd name="adj" fmla="val 31494"/>
              </a:avLst>
            </a:prstGeom>
            <a:solidFill>
              <a:srgbClr val="C03BC4"/>
            </a:solidFill>
            <a:ln w="12700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0" tIns="0" rIns="0" bIns="18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00" b="0" i="0" u="none" strike="noStrike" cap="none" spc="0" normalizeH="0" baseline="0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Instructions</a:t>
              </a:r>
            </a:p>
          </p:txBody>
        </p:sp>
        <p:sp>
          <p:nvSpPr>
            <p:cNvPr id="46" name="Rectangle: Rounded Corners 12">
              <a:extLst>
                <a:ext uri="{FF2B5EF4-FFF2-40B4-BE49-F238E27FC236}">
                  <a16:creationId xmlns:a16="http://schemas.microsoft.com/office/drawing/2014/main" id="{47D339DA-1BB2-47AC-B473-EC25D98DC8A1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004870" y="3445869"/>
              <a:ext cx="2282458" cy="369332"/>
            </a:xfrm>
            <a:prstGeom prst="roundRect">
              <a:avLst>
                <a:gd name="adj" fmla="val 31494"/>
              </a:avLst>
            </a:prstGeom>
            <a:solidFill>
              <a:srgbClr val="D4EC8E">
                <a:lumMod val="50000"/>
              </a:srgbClr>
            </a:solidFill>
            <a:ln w="12700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0" tIns="0" rIns="0" bIns="1828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00" b="0" i="0" u="none" strike="noStrike" cap="none" spc="0" normalizeH="0" baseline="0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Tools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812F7DF-8EFC-0A02-1529-19CF7F09D995}"/>
                </a:ext>
              </a:extLst>
            </p:cNvPr>
            <p:cNvSpPr txBox="1"/>
            <p:nvPr/>
          </p:nvSpPr>
          <p:spPr>
            <a:xfrm>
              <a:off x="5384580" y="1583553"/>
              <a:ext cx="1538343" cy="369332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 defTabSz="1371600">
                <a:tabLst>
                  <a:tab pos="1371600" algn="l"/>
                </a:tabLst>
                <a:defRPr/>
              </a:pPr>
              <a:r>
                <a:rPr lang="en-US" sz="2400">
                  <a:ln w="3175">
                    <a:noFill/>
                  </a:ln>
                  <a:solidFill>
                    <a:srgbClr val="281933"/>
                  </a:solidFill>
                  <a:latin typeface="Segoe UI Semibold"/>
                  <a:cs typeface="Segoe UI" panose="020B0502040204020203" pitchFamily="34" charset="0"/>
                </a:rPr>
                <a:t>Agent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35A0883-7C55-F925-D619-4D6C197162AC}"/>
                </a:ext>
              </a:extLst>
            </p:cNvPr>
            <p:cNvCxnSpPr>
              <a:cxnSpLocks/>
            </p:cNvCxnSpPr>
            <p:nvPr/>
          </p:nvCxnSpPr>
          <p:spPr>
            <a:xfrm>
              <a:off x="7786838" y="2872160"/>
              <a:ext cx="741277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  <a:headEnd type="none" w="lg" len="med"/>
              <a:tailEnd type="arrow" w="lg" len="sm"/>
            </a:ln>
            <a:effectLst/>
          </p:spPr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3D36ABB-4E5F-079D-175C-ED2A5FC585C3}"/>
                </a:ext>
              </a:extLst>
            </p:cNvPr>
            <p:cNvGrpSpPr/>
            <p:nvPr/>
          </p:nvGrpSpPr>
          <p:grpSpPr>
            <a:xfrm>
              <a:off x="5717414" y="4140460"/>
              <a:ext cx="875892" cy="707178"/>
              <a:chOff x="5445702" y="3915524"/>
              <a:chExt cx="1361563" cy="1099300"/>
            </a:xfrm>
          </p:grpSpPr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87062677-CAB6-2CB4-D720-F70CD312747D}"/>
                  </a:ext>
                </a:extLst>
              </p:cNvPr>
              <p:cNvSpPr/>
              <p:nvPr/>
            </p:nvSpPr>
            <p:spPr>
              <a:xfrm rot="9639024" flipV="1">
                <a:off x="5445702" y="3915524"/>
                <a:ext cx="1097280" cy="1097280"/>
              </a:xfrm>
              <a:prstGeom prst="arc">
                <a:avLst>
                  <a:gd name="adj1" fmla="val 17155636"/>
                  <a:gd name="adj2" fmla="val 0"/>
                </a:avLst>
              </a:prstGeom>
              <a:noFill/>
              <a:ln w="38100" cap="flat" cmpd="sng" algn="ctr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  <a:headEnd type="none" w="lg" len="med"/>
                <a:tailEnd type="arrow" w="lg" len="sm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light"/>
                  <a:ea typeface="+mn-ea"/>
                  <a:cs typeface="+mn-cs"/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46F99B17-FA59-5B09-9736-CA05C100A1D3}"/>
                  </a:ext>
                </a:extLst>
              </p:cNvPr>
              <p:cNvSpPr/>
              <p:nvPr/>
            </p:nvSpPr>
            <p:spPr>
              <a:xfrm rot="7384405" flipH="1">
                <a:off x="5709985" y="3917544"/>
                <a:ext cx="1097280" cy="1097280"/>
              </a:xfrm>
              <a:prstGeom prst="arc">
                <a:avLst>
                  <a:gd name="adj1" fmla="val 17155636"/>
                  <a:gd name="adj2" fmla="val 0"/>
                </a:avLst>
              </a:prstGeom>
              <a:noFill/>
              <a:ln w="38100" cap="flat" cmpd="sng" algn="ctr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  <a:headEnd type="none" w="lg" len="med"/>
                <a:tailEnd type="arrow" w="lg" len="sm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 Semilight"/>
                  <a:ea typeface="+mn-ea"/>
                  <a:cs typeface="+mn-cs"/>
                </a:endParaRPr>
              </a:p>
            </p:txBody>
          </p:sp>
        </p:grp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AE4B690-92DC-70FD-7A8A-3569EEDF8CF8}"/>
                </a:ext>
              </a:extLst>
            </p:cNvPr>
            <p:cNvCxnSpPr>
              <a:cxnSpLocks/>
            </p:cNvCxnSpPr>
            <p:nvPr/>
          </p:nvCxnSpPr>
          <p:spPr>
            <a:xfrm>
              <a:off x="3733440" y="2881785"/>
              <a:ext cx="771183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>
                  <a:lumMod val="85000"/>
                  <a:lumOff val="15000"/>
                </a:schemeClr>
              </a:solidFill>
              <a:prstDash val="solid"/>
              <a:headEnd type="none" w="lg" len="med"/>
              <a:tailEnd type="arrow" w="lg" len="sm"/>
            </a:ln>
            <a:effectLst/>
          </p:spPr>
        </p:cxnSp>
        <p:pic>
          <p:nvPicPr>
            <p:cNvPr id="53" name="Picture 52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FDC4225D-50A2-9F28-C811-CEF95ABB5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93675" y="1343308"/>
              <a:ext cx="714360" cy="714360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F22E7DE-4F03-49EB-7C04-CCDF9F282330}"/>
                </a:ext>
              </a:extLst>
            </p:cNvPr>
            <p:cNvSpPr txBox="1"/>
            <p:nvPr/>
          </p:nvSpPr>
          <p:spPr>
            <a:xfrm>
              <a:off x="5951174" y="2449644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400">
                  <a:solidFill>
                    <a:srgbClr val="281933"/>
                  </a:solidFill>
                  <a:latin typeface="Segoe UI Semilight"/>
                </a:rPr>
                <a:t>+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BB10BAE-5CBC-9615-302A-B2FA51737DE4}"/>
                </a:ext>
              </a:extLst>
            </p:cNvPr>
            <p:cNvSpPr txBox="1"/>
            <p:nvPr/>
          </p:nvSpPr>
          <p:spPr>
            <a:xfrm>
              <a:off x="5951174" y="3053957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2400">
                  <a:solidFill>
                    <a:srgbClr val="281933"/>
                  </a:solidFill>
                  <a:latin typeface="Segoe UI Semilight"/>
                </a:rPr>
                <a:t>+</a:t>
              </a: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29D80FC-E52C-DA3C-D723-555B3BBDFC07}"/>
                </a:ext>
              </a:extLst>
            </p:cNvPr>
            <p:cNvGrpSpPr/>
            <p:nvPr/>
          </p:nvGrpSpPr>
          <p:grpSpPr>
            <a:xfrm>
              <a:off x="1014681" y="2008891"/>
              <a:ext cx="2594411" cy="1675899"/>
              <a:chOff x="1014681" y="2008891"/>
              <a:chExt cx="2594411" cy="1675899"/>
            </a:xfrm>
          </p:grpSpPr>
          <p:sp>
            <p:nvSpPr>
              <p:cNvPr id="57" name="Rounded Rectangle 12">
                <a:extLst>
                  <a:ext uri="{FF2B5EF4-FFF2-40B4-BE49-F238E27FC236}">
                    <a16:creationId xmlns:a16="http://schemas.microsoft.com/office/drawing/2014/main" id="{C5DD37B0-7894-1EFA-589C-E4CA1BEE9C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1014681" y="2008891"/>
                <a:ext cx="2594411" cy="1675899"/>
              </a:xfrm>
              <a:prstGeom prst="roundRect">
                <a:avLst>
                  <a:gd name="adj" fmla="val 10859"/>
                </a:avLst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0" tIns="9144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110155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err="1">
                  <a:ln>
                    <a:noFill/>
                  </a:ln>
                  <a:solidFill>
                    <a:srgbClr val="281933"/>
                  </a:solidFill>
                  <a:effectLst/>
                  <a:uLnTx/>
                  <a:uFillTx/>
                  <a:latin typeface="Segoe UI"/>
                  <a:ea typeface="+mn-ea"/>
                  <a:cs typeface="Segoe UI Light" panose="020B0502040204020203" pitchFamily="34" charset="0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FE25527-FBD1-DEB6-DD4D-DAEE1BF2B491}"/>
                  </a:ext>
                </a:extLst>
              </p:cNvPr>
              <p:cNvSpPr txBox="1"/>
              <p:nvPr/>
            </p:nvSpPr>
            <p:spPr>
              <a:xfrm>
                <a:off x="1542715" y="2132731"/>
                <a:ext cx="1538343" cy="276999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371600" algn="l"/>
                  </a:tabLst>
                  <a:defRPr/>
                </a:pPr>
                <a:r>
                  <a:rPr kumimoji="0" lang="en-US" sz="1800" b="0" i="0" u="none" strike="noStrike" kern="0" cap="none" spc="0" normalizeH="0" baseline="0" noProof="0">
                    <a:ln w="3175"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 Semibold"/>
                    <a:cs typeface="Segoe UI" panose="020B0502040204020203" pitchFamily="34" charset="0"/>
                  </a:rPr>
                  <a:t>Input</a:t>
                </a:r>
              </a:p>
            </p:txBody>
          </p:sp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4BF2D445-463C-B108-9B94-04573BB157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96909" y="2517757"/>
                <a:ext cx="566014" cy="56601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</p:spPr>
          </p:pic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7EFFA08-3991-94CD-7229-DC56DB6D8FEA}"/>
                  </a:ext>
                </a:extLst>
              </p:cNvPr>
              <p:cNvSpPr txBox="1"/>
              <p:nvPr/>
            </p:nvSpPr>
            <p:spPr>
              <a:xfrm>
                <a:off x="1136593" y="3158438"/>
                <a:ext cx="667234" cy="424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System</a:t>
                </a:r>
                <a:b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events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239F80A-D9C1-2A92-FB29-1A4BD46F2CBF}"/>
                  </a:ext>
                </a:extLst>
              </p:cNvPr>
              <p:cNvSpPr txBox="1"/>
              <p:nvPr/>
            </p:nvSpPr>
            <p:spPr>
              <a:xfrm>
                <a:off x="1830646" y="3158438"/>
                <a:ext cx="845103" cy="424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User</a:t>
                </a:r>
                <a:b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messages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006524F-3EE4-26F9-3586-36F13B8B7B51}"/>
                  </a:ext>
                </a:extLst>
              </p:cNvPr>
              <p:cNvSpPr txBox="1"/>
              <p:nvPr/>
            </p:nvSpPr>
            <p:spPr>
              <a:xfrm>
                <a:off x="2682657" y="3158438"/>
                <a:ext cx="845103" cy="424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Agent</a:t>
                </a:r>
                <a:b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messages</a:t>
                </a: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9FC965E2-2BC8-EBBE-B3B2-FAA784ECFF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66619" y="2517757"/>
                <a:ext cx="566014" cy="56601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</p:spPr>
          </p:pic>
          <p:pic>
            <p:nvPicPr>
              <p:cNvPr id="64" name="Picture 63" descr="A colorful hexagon with stars&#10;&#10;Description automatically generated">
                <a:extLst>
                  <a:ext uri="{FF2B5EF4-FFF2-40B4-BE49-F238E27FC236}">
                    <a16:creationId xmlns:a16="http://schemas.microsoft.com/office/drawing/2014/main" id="{8A7B1107-B7F9-7668-367A-AC08154FEE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740706" y="2438605"/>
                <a:ext cx="714360" cy="714360"/>
              </a:xfrm>
              <a:prstGeom prst="rect">
                <a:avLst/>
              </a:prstGeom>
            </p:spPr>
          </p:pic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6BBD63F-FACC-430B-B051-C29AAE1A3508}"/>
                </a:ext>
              </a:extLst>
            </p:cNvPr>
            <p:cNvGrpSpPr/>
            <p:nvPr/>
          </p:nvGrpSpPr>
          <p:grpSpPr>
            <a:xfrm>
              <a:off x="4827670" y="4714002"/>
              <a:ext cx="2594411" cy="1675899"/>
              <a:chOff x="4846920" y="4714002"/>
              <a:chExt cx="2594411" cy="1675899"/>
            </a:xfrm>
          </p:grpSpPr>
          <p:sp>
            <p:nvSpPr>
              <p:cNvPr id="66" name="Rounded Rectangle 12">
                <a:extLst>
                  <a:ext uri="{FF2B5EF4-FFF2-40B4-BE49-F238E27FC236}">
                    <a16:creationId xmlns:a16="http://schemas.microsoft.com/office/drawing/2014/main" id="{C0AD7468-6F34-C30B-8A4D-06CB3623B9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4846920" y="4714002"/>
                <a:ext cx="2594411" cy="1675899"/>
              </a:xfrm>
              <a:prstGeom prst="roundRect">
                <a:avLst>
                  <a:gd name="adj" fmla="val 10859"/>
                </a:avLst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0" tIns="9144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110155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err="1">
                  <a:ln>
                    <a:noFill/>
                  </a:ln>
                  <a:solidFill>
                    <a:srgbClr val="281933"/>
                  </a:solidFill>
                  <a:effectLst/>
                  <a:uLnTx/>
                  <a:uFillTx/>
                  <a:latin typeface="Segoe UI"/>
                  <a:ea typeface="+mn-ea"/>
                  <a:cs typeface="Segoe UI Light" panose="020B0502040204020203" pitchFamily="34" charset="0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F8E2D18-08EC-D66B-0BC8-27B53ACFFA0D}"/>
                  </a:ext>
                </a:extLst>
              </p:cNvPr>
              <p:cNvSpPr txBox="1"/>
              <p:nvPr/>
            </p:nvSpPr>
            <p:spPr>
              <a:xfrm>
                <a:off x="5384579" y="4837842"/>
                <a:ext cx="1538343" cy="276999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371600" algn="l"/>
                  </a:tabLst>
                  <a:defRPr/>
                </a:pPr>
                <a:r>
                  <a:rPr kumimoji="0" lang="en-US" sz="1800" b="0" i="0" u="none" strike="noStrike" kern="0" cap="none" spc="0" normalizeH="0" baseline="0" noProof="0" dirty="0">
                    <a:ln w="3175"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 Semibold"/>
                    <a:cs typeface="Segoe UI" panose="020B0502040204020203" pitchFamily="34" charset="0"/>
                  </a:rPr>
                  <a:t>Tool calls</a:t>
                </a:r>
              </a:p>
            </p:txBody>
          </p:sp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E20D17EF-B0FB-870B-B615-133C1CFF48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717535" y="5325993"/>
                <a:ext cx="565588" cy="565588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</p:spPr>
          </p:pic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698EC20F-E6A5-D507-F1D4-72DC92FD1E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972117" y="5339862"/>
                <a:ext cx="508711" cy="508711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6A876C2C-5B88-5061-AE7D-1019FB9229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5113180" y="5342257"/>
                <a:ext cx="565588" cy="565588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</p:spPr>
          </p:pic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E14B9B4-BDAF-B325-C965-CFE734341E75}"/>
                  </a:ext>
                </a:extLst>
              </p:cNvPr>
              <p:cNvSpPr txBox="1"/>
              <p:nvPr/>
            </p:nvSpPr>
            <p:spPr>
              <a:xfrm>
                <a:off x="4900005" y="5949091"/>
                <a:ext cx="941283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Knowledge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E3AC2AF-24AD-748D-0941-868B8F790A19}"/>
                  </a:ext>
                </a:extLst>
              </p:cNvPr>
              <p:cNvSpPr txBox="1"/>
              <p:nvPr/>
            </p:nvSpPr>
            <p:spPr>
              <a:xfrm>
                <a:off x="5839304" y="5949091"/>
                <a:ext cx="686406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Actions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0F1953C-4E92-766C-99CB-E0FA65D3B89B}"/>
                  </a:ext>
                </a:extLst>
              </p:cNvPr>
              <p:cNvSpPr txBox="1"/>
              <p:nvPr/>
            </p:nvSpPr>
            <p:spPr>
              <a:xfrm>
                <a:off x="6607249" y="5949091"/>
                <a:ext cx="758286" cy="2585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Memory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7F4D7C5-5765-6F49-3CAD-F4653BF438B7}"/>
                </a:ext>
              </a:extLst>
            </p:cNvPr>
            <p:cNvGrpSpPr/>
            <p:nvPr/>
          </p:nvGrpSpPr>
          <p:grpSpPr>
            <a:xfrm>
              <a:off x="8668677" y="1999266"/>
              <a:ext cx="2287244" cy="1675899"/>
              <a:chOff x="8668677" y="1999266"/>
              <a:chExt cx="2287244" cy="1675899"/>
            </a:xfrm>
          </p:grpSpPr>
          <p:sp>
            <p:nvSpPr>
              <p:cNvPr id="75" name="Rounded Rectangle 12">
                <a:extLst>
                  <a:ext uri="{FF2B5EF4-FFF2-40B4-BE49-F238E27FC236}">
                    <a16:creationId xmlns:a16="http://schemas.microsoft.com/office/drawing/2014/main" id="{D6A57A8D-FF9F-2323-8FF0-11212F4108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 bwMode="auto">
              <a:xfrm>
                <a:off x="8668677" y="1999266"/>
                <a:ext cx="2287244" cy="1675899"/>
              </a:xfrm>
              <a:prstGeom prst="roundRect">
                <a:avLst>
                  <a:gd name="adj" fmla="val 10859"/>
                </a:avLst>
              </a:prstGeom>
              <a:solidFill>
                <a:srgbClr val="FFFFFF"/>
              </a:solidFill>
              <a:ln w="12700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0" tIns="9144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110155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err="1">
                  <a:ln>
                    <a:noFill/>
                  </a:ln>
                  <a:solidFill>
                    <a:srgbClr val="281933"/>
                  </a:solidFill>
                  <a:effectLst/>
                  <a:uLnTx/>
                  <a:uFillTx/>
                  <a:latin typeface="Segoe UI"/>
                  <a:ea typeface="+mn-ea"/>
                  <a:cs typeface="Segoe UI Light" panose="020B0502040204020203" pitchFamily="34" charset="0"/>
                </a:endParaRP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A2E1057-1244-7A95-6418-44E281064745}"/>
                  </a:ext>
                </a:extLst>
              </p:cNvPr>
              <p:cNvSpPr txBox="1"/>
              <p:nvPr/>
            </p:nvSpPr>
            <p:spPr>
              <a:xfrm>
                <a:off x="9043127" y="2128550"/>
                <a:ext cx="1538343" cy="276999"/>
              </a:xfrm>
              <a:prstGeom prst="rect">
                <a:avLst/>
              </a:prstGeom>
              <a:noFill/>
              <a:effectLst/>
            </p:spPr>
            <p:txBody>
              <a:bodyPr wrap="square" lIns="0" tIns="0" rIns="0" bIns="0" rtlCol="0" anchor="t" anchorCtr="0">
                <a:spAutoFit/>
              </a:bodyPr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371600" algn="l"/>
                  </a:tabLst>
                  <a:defRPr/>
                </a:pPr>
                <a:r>
                  <a:rPr kumimoji="0" lang="en-US" sz="1800" b="0" i="0" u="none" strike="noStrike" kern="0" cap="none" spc="0" normalizeH="0" baseline="0" noProof="0">
                    <a:ln w="3175"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 Semibold"/>
                    <a:cs typeface="Segoe UI" panose="020B0502040204020203" pitchFamily="34" charset="0"/>
                  </a:rPr>
                  <a:t>Output</a:t>
                </a: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2B3D61A-54D7-216D-D0DA-04FF26A95FB3}"/>
                  </a:ext>
                </a:extLst>
              </p:cNvPr>
              <p:cNvSpPr txBox="1"/>
              <p:nvPr/>
            </p:nvSpPr>
            <p:spPr>
              <a:xfrm>
                <a:off x="8974533" y="3119959"/>
                <a:ext cx="845103" cy="424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Agent</a:t>
                </a:r>
                <a:b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messages</a:t>
                </a:r>
              </a:p>
            </p:txBody>
          </p: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ED9660BB-48F1-1323-3871-4F08C17C6F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974747" y="2467480"/>
                <a:ext cx="558598" cy="558597"/>
              </a:xfrm>
              <a:prstGeom prst="rect">
                <a:avLst/>
              </a:prstGeom>
            </p:spPr>
          </p:pic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A0F991F-B357-6FAD-EA66-807D2DC61D59}"/>
                  </a:ext>
                </a:extLst>
              </p:cNvPr>
              <p:cNvSpPr txBox="1"/>
              <p:nvPr/>
            </p:nvSpPr>
            <p:spPr>
              <a:xfrm>
                <a:off x="9962799" y="3113647"/>
                <a:ext cx="623440" cy="424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Tool</a:t>
                </a:r>
                <a:b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:r>
                  <a: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281933"/>
                    </a:solidFill>
                    <a:effectLst/>
                    <a:uLnTx/>
                    <a:uFillTx/>
                    <a:latin typeface="Segoe UI" panose="020B0502040204020203" pitchFamily="34" charset="0"/>
                    <a:cs typeface="Segoe UI" panose="020B0502040204020203" pitchFamily="34" charset="0"/>
                  </a:rPr>
                  <a:t>results</a:t>
                </a:r>
              </a:p>
            </p:txBody>
          </p:sp>
          <p:pic>
            <p:nvPicPr>
              <p:cNvPr id="80" name="Picture 79" descr="A colorful hexagon with stars&#10;&#10;Description automatically generated">
                <a:extLst>
                  <a:ext uri="{FF2B5EF4-FFF2-40B4-BE49-F238E27FC236}">
                    <a16:creationId xmlns:a16="http://schemas.microsoft.com/office/drawing/2014/main" id="{32C2A80F-81AB-4AB0-FB50-4CDC563924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039904" y="2400030"/>
                <a:ext cx="714360" cy="71436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09851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roup 127">
            <a:extLst>
              <a:ext uri="{FF2B5EF4-FFF2-40B4-BE49-F238E27FC236}">
                <a16:creationId xmlns:a16="http://schemas.microsoft.com/office/drawing/2014/main" id="{F810E626-2B17-407C-EE2F-4E32E0F7E609}"/>
              </a:ext>
            </a:extLst>
          </p:cNvPr>
          <p:cNvGrpSpPr/>
          <p:nvPr/>
        </p:nvGrpSpPr>
        <p:grpSpPr>
          <a:xfrm>
            <a:off x="560422" y="1159071"/>
            <a:ext cx="11021125" cy="4895898"/>
            <a:chOff x="560422" y="1159071"/>
            <a:chExt cx="11021125" cy="4895898"/>
          </a:xfrm>
        </p:grpSpPr>
        <p:sp>
          <p:nvSpPr>
            <p:cNvPr id="66" name="Rounded Rectangle 11">
              <a:extLst>
                <a:ext uri="{FF2B5EF4-FFF2-40B4-BE49-F238E27FC236}">
                  <a16:creationId xmlns:a16="http://schemas.microsoft.com/office/drawing/2014/main" id="{157CFC35-C78C-5125-C2E8-3844C4C53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22" y="1159071"/>
              <a:ext cx="11021125" cy="4890594"/>
            </a:xfrm>
            <a:prstGeom prst="roundRect">
              <a:avLst>
                <a:gd name="adj" fmla="val 5491"/>
              </a:avLst>
            </a:prstGeom>
            <a:solidFill>
              <a:srgbClr val="FFFFFF"/>
            </a:solidFill>
            <a:ln w="12700" cap="rnd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32472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5D8223C-03B9-8734-ADF2-9E423DC2A5D7}"/>
                </a:ext>
              </a:extLst>
            </p:cNvPr>
            <p:cNvGrpSpPr/>
            <p:nvPr/>
          </p:nvGrpSpPr>
          <p:grpSpPr>
            <a:xfrm>
              <a:off x="4212224" y="1403273"/>
              <a:ext cx="3770597" cy="4423491"/>
              <a:chOff x="4212224" y="1413783"/>
              <a:chExt cx="3770597" cy="3789903"/>
            </a:xfrm>
          </p:grpSpPr>
          <p:cxnSp>
            <p:nvCxnSpPr>
              <p:cNvPr id="68" name="Connettore diritto 15">
                <a:extLst>
                  <a:ext uri="{FF2B5EF4-FFF2-40B4-BE49-F238E27FC236}">
                    <a16:creationId xmlns:a16="http://schemas.microsoft.com/office/drawing/2014/main" id="{6955A5C8-4229-4478-ABBB-C371EF179F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12224" y="1413783"/>
                <a:ext cx="0" cy="3778449"/>
              </a:xfrm>
              <a:prstGeom prst="line">
                <a:avLst/>
              </a:prstGeom>
              <a:noFill/>
              <a:ln w="12700" cap="rnd" cmpd="sng" algn="ctr">
                <a:solidFill>
                  <a:srgbClr val="FFFFFF">
                    <a:lumMod val="85000"/>
                  </a:srgbClr>
                </a:solidFill>
                <a:prstDash val="solid"/>
                <a:headEnd type="none" w="lg" len="sm"/>
                <a:tailEnd type="none" w="lg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  <p:cxnSp>
            <p:nvCxnSpPr>
              <p:cNvPr id="69" name="Connettore diritto 19">
                <a:extLst>
                  <a:ext uri="{FF2B5EF4-FFF2-40B4-BE49-F238E27FC236}">
                    <a16:creationId xmlns:a16="http://schemas.microsoft.com/office/drawing/2014/main" id="{D074E3E1-8021-B3A0-7B2B-3799CAD001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82821" y="1413783"/>
                <a:ext cx="0" cy="3789903"/>
              </a:xfrm>
              <a:prstGeom prst="line">
                <a:avLst/>
              </a:prstGeom>
              <a:noFill/>
              <a:ln w="12700" cap="rnd" cmpd="sng" algn="ctr">
                <a:solidFill>
                  <a:srgbClr val="FFFFFF">
                    <a:lumMod val="85000"/>
                  </a:srgbClr>
                </a:solidFill>
                <a:prstDash val="solid"/>
                <a:headEnd type="none" w="lg" len="sm"/>
                <a:tailEnd type="none" w="lg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  <p:sp>
          <p:nvSpPr>
            <p:cNvPr id="70" name="TextBox 13">
              <a:extLst>
                <a:ext uri="{FF2B5EF4-FFF2-40B4-BE49-F238E27FC236}">
                  <a16:creationId xmlns:a16="http://schemas.microsoft.com/office/drawing/2014/main" id="{A39B6B98-D7B4-4A58-CB36-8AC561584490}"/>
                </a:ext>
              </a:extLst>
            </p:cNvPr>
            <p:cNvSpPr txBox="1">
              <a:spLocks/>
            </p:cNvSpPr>
            <p:nvPr/>
          </p:nvSpPr>
          <p:spPr>
            <a:xfrm>
              <a:off x="5627381" y="1392640"/>
              <a:ext cx="1750730" cy="5539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 marR="0" indent="0" defTabSz="932742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Pct val="90000"/>
                <a:buFont typeface="Wingdings" panose="05000000000000000000" pitchFamily="2" charset="2"/>
                <a:buNone/>
                <a:tabLst/>
                <a:defRPr sz="2000" spc="0" baseline="0">
                  <a:latin typeface="+mj-lt"/>
                  <a:cs typeface="Segoe UI" panose="020B0502040204020203" pitchFamily="34" charset="0"/>
                </a:defRPr>
              </a:lvl1pPr>
              <a:lvl2pPr marL="266700" marR="0" lvl="1" indent="-266700" defTabSz="932742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Pct val="90000"/>
                <a:buFont typeface="Arial" panose="020B0604020202020204" pitchFamily="34" charset="0"/>
                <a:buChar char="•"/>
                <a:tabLst/>
                <a:defRPr sz="1800" spc="0" baseline="0"/>
              </a:lvl2pPr>
              <a:lvl3pPr marL="657225" marR="0" indent="-200025" defTabSz="932742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600" spc="0" baseline="0"/>
              </a:lvl3pPr>
              <a:lvl4pPr marL="842963" marR="0" indent="-180975" defTabSz="932742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400" spc="0" baseline="0"/>
              </a:lvl4pPr>
              <a:lvl5pPr marL="1023938" marR="0" indent="-168275" defTabSz="932742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400" spc="0" baseline="0"/>
              </a:lvl5pPr>
              <a:lvl6pPr marL="2565040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3031412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97783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964155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>
                  <a:solidFill>
                    <a:srgbClr val="080808"/>
                  </a:solidFill>
                  <a:latin typeface="Segoe UI Semibold"/>
                </a:rPr>
                <a:t>Acting</a:t>
              </a:r>
              <a:br>
                <a:rPr lang="en-US">
                  <a:solidFill>
                    <a:srgbClr val="080808"/>
                  </a:solidFill>
                  <a:latin typeface="Segoe UI Semibold"/>
                </a:rPr>
              </a:br>
              <a:r>
                <a:rPr lang="en-US" sz="1600">
                  <a:solidFill>
                    <a:srgbClr val="080808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aka tool calling</a:t>
              </a:r>
            </a:p>
          </p:txBody>
        </p:sp>
        <p:sp>
          <p:nvSpPr>
            <p:cNvPr id="71" name="TextBox 13">
              <a:extLst>
                <a:ext uri="{FF2B5EF4-FFF2-40B4-BE49-F238E27FC236}">
                  <a16:creationId xmlns:a16="http://schemas.microsoft.com/office/drawing/2014/main" id="{B6EAE5CC-AD84-A180-6D22-7D53EF4DC5F7}"/>
                </a:ext>
              </a:extLst>
            </p:cNvPr>
            <p:cNvSpPr txBox="1">
              <a:spLocks/>
            </p:cNvSpPr>
            <p:nvPr/>
          </p:nvSpPr>
          <p:spPr>
            <a:xfrm>
              <a:off x="9419245" y="1383577"/>
              <a:ext cx="1750730" cy="5539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 marR="0" indent="0" defTabSz="932742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Pct val="90000"/>
                <a:buFont typeface="Wingdings" panose="05000000000000000000" pitchFamily="2" charset="2"/>
                <a:buNone/>
                <a:tabLst/>
                <a:defRPr sz="2000" spc="0" baseline="0">
                  <a:latin typeface="+mj-lt"/>
                  <a:cs typeface="Segoe UI" panose="020B0502040204020203" pitchFamily="34" charset="0"/>
                </a:defRPr>
              </a:lvl1pPr>
              <a:lvl2pPr marL="266700" marR="0" lvl="1" indent="-266700" defTabSz="932742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Pct val="90000"/>
                <a:buFont typeface="Arial" panose="020B0604020202020204" pitchFamily="34" charset="0"/>
                <a:buChar char="•"/>
                <a:tabLst/>
                <a:defRPr sz="1800" spc="0" baseline="0"/>
              </a:lvl2pPr>
              <a:lvl3pPr marL="657225" marR="0" indent="-200025" defTabSz="932742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600" spc="0" baseline="0"/>
              </a:lvl3pPr>
              <a:lvl4pPr marL="842963" marR="0" indent="-180975" defTabSz="932742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400" spc="0" baseline="0"/>
              </a:lvl4pPr>
              <a:lvl5pPr marL="1023938" marR="0" indent="-168275" defTabSz="932742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400" spc="0" baseline="0"/>
              </a:lvl5pPr>
              <a:lvl6pPr marL="2565040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3031412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97783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964155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>
                  <a:solidFill>
                    <a:srgbClr val="080808"/>
                  </a:solidFill>
                  <a:latin typeface="Segoe UI Semibold"/>
                </a:rPr>
                <a:t>Learning</a:t>
              </a:r>
              <a:br>
                <a:rPr lang="en-US">
                  <a:solidFill>
                    <a:srgbClr val="080808"/>
                  </a:solidFill>
                  <a:latin typeface="Segoe UI Semibold"/>
                </a:rPr>
              </a:br>
              <a:r>
                <a:rPr lang="en-US" sz="1600">
                  <a:solidFill>
                    <a:srgbClr val="080808"/>
                  </a:solidFill>
                  <a:latin typeface="Segoe UI"/>
                </a:rPr>
                <a:t>aka memory</a:t>
              </a:r>
              <a:endParaRPr lang="en-US">
                <a:solidFill>
                  <a:srgbClr val="080808"/>
                </a:solidFill>
                <a:latin typeface="Segoe UI"/>
              </a:endParaRPr>
            </a:p>
          </p:txBody>
        </p:sp>
        <p:sp>
          <p:nvSpPr>
            <p:cNvPr id="72" name="TextBox 13">
              <a:extLst>
                <a:ext uri="{FF2B5EF4-FFF2-40B4-BE49-F238E27FC236}">
                  <a16:creationId xmlns:a16="http://schemas.microsoft.com/office/drawing/2014/main" id="{86DC87C6-6399-92F2-4D04-819481FD061E}"/>
                </a:ext>
              </a:extLst>
            </p:cNvPr>
            <p:cNvSpPr txBox="1">
              <a:spLocks/>
            </p:cNvSpPr>
            <p:nvPr/>
          </p:nvSpPr>
          <p:spPr>
            <a:xfrm>
              <a:off x="1949400" y="1377665"/>
              <a:ext cx="1750730" cy="55399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 marR="0" indent="0" defTabSz="932742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Pct val="90000"/>
                <a:buFont typeface="Wingdings" panose="05000000000000000000" pitchFamily="2" charset="2"/>
                <a:buNone/>
                <a:tabLst/>
                <a:defRPr sz="2000" spc="0" baseline="0">
                  <a:latin typeface="+mj-lt"/>
                  <a:cs typeface="Segoe UI" panose="020B0502040204020203" pitchFamily="34" charset="0"/>
                </a:defRPr>
              </a:lvl1pPr>
              <a:lvl2pPr marL="266700" marR="0" lvl="1" indent="-266700" defTabSz="932742" fontAlgn="auto"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  <a:buClrTx/>
                <a:buSzPct val="90000"/>
                <a:buFont typeface="Arial" panose="020B0604020202020204" pitchFamily="34" charset="0"/>
                <a:buChar char="•"/>
                <a:tabLst/>
                <a:defRPr sz="1800" spc="0" baseline="0"/>
              </a:lvl2pPr>
              <a:lvl3pPr marL="657225" marR="0" indent="-200025" defTabSz="932742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600" spc="0" baseline="0"/>
              </a:lvl3pPr>
              <a:lvl4pPr marL="842963" marR="0" indent="-180975" defTabSz="932742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400" spc="0" baseline="0"/>
              </a:lvl4pPr>
              <a:lvl5pPr marL="1023938" marR="0" indent="-168275" defTabSz="932742" fontAlgn="auto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 typeface="Wingdings" panose="05000000000000000000" pitchFamily="2" charset="2"/>
                <a:buChar char=""/>
                <a:tabLst/>
                <a:defRPr sz="1400" spc="0" baseline="0"/>
              </a:lvl5pPr>
              <a:lvl6pPr marL="2565040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6pPr>
              <a:lvl7pPr marL="3031412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7pPr>
              <a:lvl8pPr marL="3497783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8pPr>
              <a:lvl9pPr marL="3964155" indent="-233186" defTabSz="932742">
                <a:spcBef>
                  <a:spcPct val="20000"/>
                </a:spcBef>
                <a:buFont typeface="Arial" pitchFamily="34" charset="0"/>
                <a:buChar char="•"/>
                <a:defRPr sz="2000"/>
              </a:lvl9pPr>
            </a:lstStyle>
            <a:p>
              <a:pPr>
                <a:defRPr/>
              </a:pPr>
              <a:r>
                <a:rPr lang="en-US">
                  <a:solidFill>
                    <a:srgbClr val="080808"/>
                  </a:solidFill>
                  <a:latin typeface="Segoe UI Semibold"/>
                </a:rPr>
                <a:t>Reasoning</a:t>
              </a:r>
              <a:br>
                <a:rPr lang="en-US">
                  <a:solidFill>
                    <a:srgbClr val="080808"/>
                  </a:solidFill>
                  <a:latin typeface="Segoe UI Semibold"/>
                </a:rPr>
              </a:br>
              <a:r>
                <a:rPr lang="en-US" sz="1600">
                  <a:solidFill>
                    <a:srgbClr val="080808"/>
                  </a:solidFill>
                  <a:latin typeface="Segoe UI"/>
                </a:rPr>
                <a:t>aka planning</a:t>
              </a:r>
              <a:endParaRPr lang="en-US">
                <a:solidFill>
                  <a:srgbClr val="080808"/>
                </a:solidFill>
                <a:latin typeface="Segoe UI"/>
              </a:endParaRPr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BD606F65-CCFC-8962-46D1-E9BB657B72E3}"/>
                </a:ext>
              </a:extLst>
            </p:cNvPr>
            <p:cNvSpPr/>
            <p:nvPr/>
          </p:nvSpPr>
          <p:spPr>
            <a:xfrm>
              <a:off x="1380469" y="4961676"/>
              <a:ext cx="1986012" cy="1093293"/>
            </a:xfrm>
            <a:custGeom>
              <a:avLst/>
              <a:gdLst>
                <a:gd name="connsiteX0" fmla="*/ 108340 w 1986012"/>
                <a:gd name="connsiteY0" fmla="*/ 0 h 1093293"/>
                <a:gd name="connsiteX1" fmla="*/ 1877672 w 1986012"/>
                <a:gd name="connsiteY1" fmla="*/ 0 h 1093293"/>
                <a:gd name="connsiteX2" fmla="*/ 1986012 w 1986012"/>
                <a:gd name="connsiteY2" fmla="*/ 108340 h 1093293"/>
                <a:gd name="connsiteX3" fmla="*/ 1986012 w 1986012"/>
                <a:gd name="connsiteY3" fmla="*/ 1093293 h 1093293"/>
                <a:gd name="connsiteX4" fmla="*/ 0 w 1986012"/>
                <a:gd name="connsiteY4" fmla="*/ 1093293 h 1093293"/>
                <a:gd name="connsiteX5" fmla="*/ 0 w 1986012"/>
                <a:gd name="connsiteY5" fmla="*/ 108340 h 1093293"/>
                <a:gd name="connsiteX6" fmla="*/ 108340 w 1986012"/>
                <a:gd name="connsiteY6" fmla="*/ 0 h 109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6012" h="1093293">
                  <a:moveTo>
                    <a:pt x="108340" y="0"/>
                  </a:moveTo>
                  <a:lnTo>
                    <a:pt x="1877672" y="0"/>
                  </a:lnTo>
                  <a:cubicBezTo>
                    <a:pt x="1937507" y="0"/>
                    <a:pt x="1986012" y="48505"/>
                    <a:pt x="1986012" y="108340"/>
                  </a:cubicBezTo>
                  <a:lnTo>
                    <a:pt x="1986012" y="1093293"/>
                  </a:lnTo>
                  <a:lnTo>
                    <a:pt x="0" y="1093293"/>
                  </a:lnTo>
                  <a:lnTo>
                    <a:pt x="0" y="108340"/>
                  </a:lnTo>
                  <a:cubicBezTo>
                    <a:pt x="0" y="48505"/>
                    <a:pt x="48505" y="0"/>
                    <a:pt x="108340" y="0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wrap="square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I’ve captured the underlying issue in the details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pic>
          <p:nvPicPr>
            <p:cNvPr id="74" name="Picture 73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5F141F90-CB26-E194-8CFD-86C9C44C2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142" y="3236667"/>
              <a:ext cx="443198" cy="443198"/>
            </a:xfrm>
            <a:prstGeom prst="rect">
              <a:avLst/>
            </a:prstGeom>
          </p:spPr>
        </p:pic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3CD8A434-1736-5452-788E-E1770D9E1F5B}"/>
                </a:ext>
              </a:extLst>
            </p:cNvPr>
            <p:cNvSpPr/>
            <p:nvPr/>
          </p:nvSpPr>
          <p:spPr>
            <a:xfrm>
              <a:off x="1502146" y="5425627"/>
              <a:ext cx="1728894" cy="624038"/>
            </a:xfrm>
            <a:custGeom>
              <a:avLst/>
              <a:gdLst>
                <a:gd name="connsiteX0" fmla="*/ 44162 w 1728894"/>
                <a:gd name="connsiteY0" fmla="*/ 0 h 624038"/>
                <a:gd name="connsiteX1" fmla="*/ 1684732 w 1728894"/>
                <a:gd name="connsiteY1" fmla="*/ 0 h 624038"/>
                <a:gd name="connsiteX2" fmla="*/ 1728894 w 1728894"/>
                <a:gd name="connsiteY2" fmla="*/ 44162 h 624038"/>
                <a:gd name="connsiteX3" fmla="*/ 1728894 w 1728894"/>
                <a:gd name="connsiteY3" fmla="*/ 624038 h 624038"/>
                <a:gd name="connsiteX4" fmla="*/ 0 w 1728894"/>
                <a:gd name="connsiteY4" fmla="*/ 624038 h 624038"/>
                <a:gd name="connsiteX5" fmla="*/ 0 w 1728894"/>
                <a:gd name="connsiteY5" fmla="*/ 44162 h 624038"/>
                <a:gd name="connsiteX6" fmla="*/ 44162 w 1728894"/>
                <a:gd name="connsiteY6" fmla="*/ 0 h 62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8894" h="624038">
                  <a:moveTo>
                    <a:pt x="44162" y="0"/>
                  </a:moveTo>
                  <a:lnTo>
                    <a:pt x="1684732" y="0"/>
                  </a:lnTo>
                  <a:cubicBezTo>
                    <a:pt x="1709122" y="0"/>
                    <a:pt x="1728894" y="19772"/>
                    <a:pt x="1728894" y="44162"/>
                  </a:cubicBezTo>
                  <a:lnTo>
                    <a:pt x="1728894" y="624038"/>
                  </a:lnTo>
                  <a:lnTo>
                    <a:pt x="0" y="624038"/>
                  </a:lnTo>
                  <a:lnTo>
                    <a:pt x="0" y="44162"/>
                  </a:lnTo>
                  <a:cubicBezTo>
                    <a:pt x="0" y="19772"/>
                    <a:pt x="19772" y="0"/>
                    <a:pt x="44162" y="0"/>
                  </a:cubicBezTo>
                  <a:close/>
                </a:path>
              </a:pathLst>
            </a:custGeom>
            <a:solidFill>
              <a:srgbClr val="080808"/>
            </a:solidFill>
            <a:ln w="10795" cap="flat" cmpd="sng" algn="ctr">
              <a:noFill/>
              <a:prstDash val="solid"/>
            </a:ln>
            <a:effectLst/>
          </p:spPr>
          <p:txBody>
            <a:bodyPr wrap="square" r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{</a:t>
              </a:r>
              <a:b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</a:b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 "name" : "John Clar</a:t>
              </a:r>
            </a:p>
            <a:p>
              <a:pPr marL="0" marR="0" lvl="0" indent="0" defTabSz="91440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  "issue": ”Washing m</a:t>
              </a:r>
            </a:p>
          </p:txBody>
        </p:sp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84BAC2BF-890A-26F8-3982-F625CCFCD5EC}"/>
                </a:ext>
              </a:extLst>
            </p:cNvPr>
            <p:cNvSpPr/>
            <p:nvPr/>
          </p:nvSpPr>
          <p:spPr>
            <a:xfrm>
              <a:off x="1987295" y="2225873"/>
              <a:ext cx="1842407" cy="496185"/>
            </a:xfrm>
            <a:prstGeom prst="roundRect">
              <a:avLst>
                <a:gd name="adj" fmla="val 16762"/>
              </a:avLst>
            </a:prstGeom>
            <a:gradFill>
              <a:gsLst>
                <a:gs pos="0">
                  <a:srgbClr val="35B884">
                    <a:lumMod val="85000"/>
                  </a:srgbClr>
                </a:gs>
                <a:gs pos="100000">
                  <a:srgbClr val="35B884">
                    <a:lumMod val="75000"/>
                  </a:srgbClr>
                </a:gs>
              </a:gsLst>
              <a:lin ang="5400000" scaled="1"/>
            </a:gradFill>
            <a:ln w="1079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Create a JSON describing the user issues</a:t>
              </a:r>
            </a:p>
          </p:txBody>
        </p: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A1D7BDC9-C5FE-C087-5269-71808A08DDC9}"/>
                </a:ext>
              </a:extLst>
            </p:cNvPr>
            <p:cNvSpPr/>
            <p:nvPr/>
          </p:nvSpPr>
          <p:spPr>
            <a:xfrm>
              <a:off x="1409935" y="3898204"/>
              <a:ext cx="1619851" cy="717110"/>
            </a:xfrm>
            <a:prstGeom prst="roundRect">
              <a:avLst>
                <a:gd name="adj" fmla="val 14897"/>
              </a:avLst>
            </a:prstGeom>
            <a:solidFill>
              <a:srgbClr val="FFFFFF">
                <a:lumMod val="9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78" name="Rounded Rectangle 77">
              <a:extLst>
                <a:ext uri="{FF2B5EF4-FFF2-40B4-BE49-F238E27FC236}">
                  <a16:creationId xmlns:a16="http://schemas.microsoft.com/office/drawing/2014/main" id="{28D108AC-1FED-7881-FFCD-5AC7AEB84C3C}"/>
                </a:ext>
              </a:extLst>
            </p:cNvPr>
            <p:cNvSpPr/>
            <p:nvPr/>
          </p:nvSpPr>
          <p:spPr>
            <a:xfrm>
              <a:off x="1518620" y="3991577"/>
              <a:ext cx="1395663" cy="508234"/>
            </a:xfrm>
            <a:prstGeom prst="roundRect">
              <a:avLst/>
            </a:prstGeom>
            <a:solidFill>
              <a:srgbClr val="FFFFFF"/>
            </a:solidFill>
            <a:ln w="1079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C701C1D6-DBF2-5619-7C11-FDC7325F09D4}"/>
                </a:ext>
              </a:extLst>
            </p:cNvPr>
            <p:cNvSpPr txBox="1"/>
            <p:nvPr/>
          </p:nvSpPr>
          <p:spPr>
            <a:xfrm>
              <a:off x="1948330" y="4133088"/>
              <a:ext cx="80983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>
                  <a:solidFill>
                    <a:srgbClr val="080808"/>
                  </a:solidFill>
                  <a:latin typeface="Segoe UI"/>
                </a:rPr>
                <a:t>Check logs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5B826C5E-191E-0222-5B01-42D29A26F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661128" y="4116020"/>
              <a:ext cx="259347" cy="259347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A888EC-ECC0-4437-4558-E21965D07FB5}"/>
                </a:ext>
              </a:extLst>
            </p:cNvPr>
            <p:cNvSpPr txBox="1"/>
            <p:nvPr/>
          </p:nvSpPr>
          <p:spPr>
            <a:xfrm>
              <a:off x="1549439" y="4632692"/>
              <a:ext cx="185820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FA930A">
                      <a:lumMod val="75000"/>
                    </a:srgbClr>
                  </a:solidFill>
                  <a:latin typeface="Segoe UI" panose="020B0502040204020203" pitchFamily="34" charset="0"/>
                  <a:ea typeface="Menlo" panose="020B0609030804020204" pitchFamily="49" charset="0"/>
                  <a:cs typeface="Segoe UI" panose="020B0502040204020203" pitchFamily="34" charset="0"/>
                </a:rPr>
                <a:t>Machine is past due for maintenance</a:t>
              </a:r>
              <a:endParaRPr lang="en-US" sz="800">
                <a:solidFill>
                  <a:srgbClr val="FA930A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pic>
          <p:nvPicPr>
            <p:cNvPr id="82" name="Graphic 81" descr="Close with solid fill">
              <a:extLst>
                <a:ext uri="{FF2B5EF4-FFF2-40B4-BE49-F238E27FC236}">
                  <a16:creationId xmlns:a16="http://schemas.microsoft.com/office/drawing/2014/main" id="{D00D99B4-479E-4F01-3C06-D81FDFF760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05178" y="4685378"/>
              <a:ext cx="107666" cy="10766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DFC47451-6EF3-B2AD-F3BD-CB0C414E7D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97859" y="1379783"/>
              <a:ext cx="560294" cy="560294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5FE3EE46-E99E-B3B8-84DC-000BF790A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998433" y="1376953"/>
              <a:ext cx="488875" cy="488875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33F61714-7C87-C110-FA1A-67ABF074E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71064" y="1392640"/>
              <a:ext cx="501544" cy="501544"/>
            </a:xfrm>
            <a:prstGeom prst="rect">
              <a:avLst/>
            </a:prstGeom>
          </p:spPr>
        </p:pic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2E85C4A5-A5A4-8028-96D6-569904EA8EB9}"/>
                </a:ext>
              </a:extLst>
            </p:cNvPr>
            <p:cNvSpPr/>
            <p:nvPr/>
          </p:nvSpPr>
          <p:spPr>
            <a:xfrm>
              <a:off x="1427336" y="3357791"/>
              <a:ext cx="2038877" cy="472873"/>
            </a:xfrm>
            <a:prstGeom prst="roundRect">
              <a:avLst>
                <a:gd name="adj" fmla="val 14897"/>
              </a:avLst>
            </a:prstGeom>
            <a:solidFill>
              <a:srgbClr val="FFFFFF">
                <a:lumMod val="9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I’ll look at the logs to see what happened</a:t>
              </a:r>
            </a:p>
          </p:txBody>
        </p:sp>
        <p:pic>
          <p:nvPicPr>
            <p:cNvPr id="87" name="Picture 86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B7586DE1-DAD2-A55E-1DB0-340245803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142" y="4901300"/>
              <a:ext cx="443198" cy="443198"/>
            </a:xfrm>
            <a:prstGeom prst="rect">
              <a:avLst/>
            </a:prstGeom>
          </p:spPr>
        </p:pic>
        <p:sp>
          <p:nvSpPr>
            <p:cNvPr id="88" name="Rounded Rectangle 87">
              <a:extLst>
                <a:ext uri="{FF2B5EF4-FFF2-40B4-BE49-F238E27FC236}">
                  <a16:creationId xmlns:a16="http://schemas.microsoft.com/office/drawing/2014/main" id="{A3DEC507-8025-D75C-C9CA-A35A1EA425FA}"/>
                </a:ext>
              </a:extLst>
            </p:cNvPr>
            <p:cNvSpPr/>
            <p:nvPr/>
          </p:nvSpPr>
          <p:spPr>
            <a:xfrm>
              <a:off x="2616722" y="2784189"/>
              <a:ext cx="1212980" cy="417840"/>
            </a:xfrm>
            <a:prstGeom prst="roundRect">
              <a:avLst>
                <a:gd name="adj" fmla="val 20687"/>
              </a:avLst>
            </a:prstGeom>
            <a:gradFill>
              <a:gsLst>
                <a:gs pos="0">
                  <a:srgbClr val="35B884">
                    <a:lumMod val="85000"/>
                  </a:srgbClr>
                </a:gs>
                <a:gs pos="100000">
                  <a:srgbClr val="35B884">
                    <a:lumMod val="75000"/>
                  </a:srgbClr>
                </a:gs>
              </a:gsLst>
              <a:lin ang="5400000" scaled="1"/>
            </a:gradFill>
            <a:ln w="10795" cap="flat" cmpd="sng" algn="ctr">
              <a:noFill/>
              <a:prstDash val="solid"/>
            </a:ln>
            <a:effectLst/>
          </p:spPr>
          <p:txBody>
            <a:bodyPr lIns="45720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Segoe UI" panose="020B0502040204020203" pitchFamily="34" charset="0"/>
                </a:rPr>
                <a:t>Transcript</a:t>
              </a:r>
            </a:p>
          </p:txBody>
        </p:sp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8DCD7D15-7D77-23BE-6572-8CFD669AD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colorTemperature colorTemp="72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751512" y="2876458"/>
              <a:ext cx="241299" cy="241299"/>
            </a:xfrm>
            <a:prstGeom prst="rect">
              <a:avLst/>
            </a:prstGeom>
          </p:spPr>
        </p:pic>
        <p:sp>
          <p:nvSpPr>
            <p:cNvPr id="90" name="Rounded Rectangle 89">
              <a:extLst>
                <a:ext uri="{FF2B5EF4-FFF2-40B4-BE49-F238E27FC236}">
                  <a16:creationId xmlns:a16="http://schemas.microsoft.com/office/drawing/2014/main" id="{B69701E0-9ACD-D376-9829-5F4E4FD8E300}"/>
                </a:ext>
              </a:extLst>
            </p:cNvPr>
            <p:cNvSpPr/>
            <p:nvPr/>
          </p:nvSpPr>
          <p:spPr>
            <a:xfrm>
              <a:off x="5351930" y="2243593"/>
              <a:ext cx="2259998" cy="308344"/>
            </a:xfrm>
            <a:prstGeom prst="roundRect">
              <a:avLst>
                <a:gd name="adj" fmla="val 33129"/>
              </a:avLst>
            </a:prstGeom>
            <a:gradFill>
              <a:gsLst>
                <a:gs pos="0">
                  <a:srgbClr val="35B884">
                    <a:lumMod val="85000"/>
                  </a:srgbClr>
                </a:gs>
                <a:gs pos="100000">
                  <a:srgbClr val="35B884">
                    <a:lumMod val="75000"/>
                  </a:srgbClr>
                </a:gs>
              </a:gsLst>
              <a:lin ang="5400000" scaled="1"/>
            </a:gradFill>
            <a:ln w="1079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Fill out and submit the workorder</a:t>
              </a:r>
            </a:p>
          </p:txBody>
        </p:sp>
        <p:pic>
          <p:nvPicPr>
            <p:cNvPr id="91" name="Picture 90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A078A2B3-97A7-DAE4-1F4C-2B4C40017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7114" y="2791270"/>
              <a:ext cx="443198" cy="443198"/>
            </a:xfrm>
            <a:prstGeom prst="rect">
              <a:avLst/>
            </a:prstGeom>
          </p:spPr>
        </p:pic>
        <p:sp>
          <p:nvSpPr>
            <p:cNvPr id="92" name="Rounded Rectangle 91">
              <a:extLst>
                <a:ext uri="{FF2B5EF4-FFF2-40B4-BE49-F238E27FC236}">
                  <a16:creationId xmlns:a16="http://schemas.microsoft.com/office/drawing/2014/main" id="{975C55D0-71FD-BF9D-6635-74B0476D150D}"/>
                </a:ext>
              </a:extLst>
            </p:cNvPr>
            <p:cNvSpPr/>
            <p:nvPr/>
          </p:nvSpPr>
          <p:spPr>
            <a:xfrm>
              <a:off x="4983164" y="2709870"/>
              <a:ext cx="2066222" cy="717110"/>
            </a:xfrm>
            <a:prstGeom prst="roundRect">
              <a:avLst>
                <a:gd name="adj" fmla="val 14897"/>
              </a:avLst>
            </a:prstGeom>
            <a:solidFill>
              <a:srgbClr val="FFFFFF">
                <a:lumMod val="9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93" name="Rounded Rectangle 92">
              <a:extLst>
                <a:ext uri="{FF2B5EF4-FFF2-40B4-BE49-F238E27FC236}">
                  <a16:creationId xmlns:a16="http://schemas.microsoft.com/office/drawing/2014/main" id="{F1DD847B-EA94-9674-CFA9-A2EB1F64A4C9}"/>
                </a:ext>
              </a:extLst>
            </p:cNvPr>
            <p:cNvSpPr/>
            <p:nvPr/>
          </p:nvSpPr>
          <p:spPr>
            <a:xfrm>
              <a:off x="5091849" y="2803243"/>
              <a:ext cx="1840579" cy="508234"/>
            </a:xfrm>
            <a:prstGeom prst="roundRect">
              <a:avLst/>
            </a:prstGeom>
            <a:solidFill>
              <a:srgbClr val="FFFFFF"/>
            </a:solidFill>
            <a:ln w="1079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62393BD-C624-F5CB-EB9E-40A440ADD02A}"/>
                </a:ext>
              </a:extLst>
            </p:cNvPr>
            <p:cNvSpPr txBox="1"/>
            <p:nvPr/>
          </p:nvSpPr>
          <p:spPr>
            <a:xfrm>
              <a:off x="5521559" y="2944754"/>
              <a:ext cx="136928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>
                  <a:solidFill>
                    <a:srgbClr val="080808"/>
                  </a:solidFill>
                  <a:latin typeface="Segoe UI"/>
                </a:rPr>
                <a:t>Populate field: name</a:t>
              </a:r>
            </a:p>
          </p:txBody>
        </p:sp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9E176189-5966-097B-76BA-BA989E8EF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205482" y="2927686"/>
              <a:ext cx="259347" cy="259347"/>
            </a:xfrm>
            <a:prstGeom prst="rect">
              <a:avLst/>
            </a:prstGeom>
          </p:spPr>
        </p:pic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38D272DF-F243-02ED-51BD-ABA51C923C4A}"/>
                </a:ext>
              </a:extLst>
            </p:cNvPr>
            <p:cNvSpPr/>
            <p:nvPr/>
          </p:nvSpPr>
          <p:spPr>
            <a:xfrm>
              <a:off x="4977576" y="5717798"/>
              <a:ext cx="2153250" cy="335423"/>
            </a:xfrm>
            <a:custGeom>
              <a:avLst/>
              <a:gdLst>
                <a:gd name="connsiteX0" fmla="*/ 109716 w 2153250"/>
                <a:gd name="connsiteY0" fmla="*/ 0 h 335423"/>
                <a:gd name="connsiteX1" fmla="*/ 2043534 w 2153250"/>
                <a:gd name="connsiteY1" fmla="*/ 0 h 335423"/>
                <a:gd name="connsiteX2" fmla="*/ 2153250 w 2153250"/>
                <a:gd name="connsiteY2" fmla="*/ 109716 h 335423"/>
                <a:gd name="connsiteX3" fmla="*/ 2153250 w 2153250"/>
                <a:gd name="connsiteY3" fmla="*/ 335423 h 335423"/>
                <a:gd name="connsiteX4" fmla="*/ 0 w 2153250"/>
                <a:gd name="connsiteY4" fmla="*/ 335423 h 335423"/>
                <a:gd name="connsiteX5" fmla="*/ 0 w 2153250"/>
                <a:gd name="connsiteY5" fmla="*/ 109716 h 335423"/>
                <a:gd name="connsiteX6" fmla="*/ 109716 w 2153250"/>
                <a:gd name="connsiteY6" fmla="*/ 0 h 33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3250" h="335423">
                  <a:moveTo>
                    <a:pt x="109716" y="0"/>
                  </a:moveTo>
                  <a:lnTo>
                    <a:pt x="2043534" y="0"/>
                  </a:lnTo>
                  <a:cubicBezTo>
                    <a:pt x="2104128" y="0"/>
                    <a:pt x="2153250" y="49122"/>
                    <a:pt x="2153250" y="109716"/>
                  </a:cubicBezTo>
                  <a:lnTo>
                    <a:pt x="2153250" y="335423"/>
                  </a:lnTo>
                  <a:lnTo>
                    <a:pt x="0" y="335423"/>
                  </a:lnTo>
                  <a:lnTo>
                    <a:pt x="0" y="109716"/>
                  </a:lnTo>
                  <a:cubicBezTo>
                    <a:pt x="0" y="49122"/>
                    <a:pt x="49122" y="0"/>
                    <a:pt x="109716" y="0"/>
                  </a:cubicBezTo>
                  <a:close/>
                </a:path>
              </a:pathLst>
            </a:custGeom>
            <a:solidFill>
              <a:srgbClr val="FFFFFF">
                <a:lumMod val="9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wrap="square" lIns="137160" tIns="9144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The form has been successfully</a:t>
              </a:r>
            </a:p>
          </p:txBody>
        </p:sp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097B2B08-5146-D780-7F55-1DC58FA5A52E}"/>
                </a:ext>
              </a:extLst>
            </p:cNvPr>
            <p:cNvSpPr/>
            <p:nvPr/>
          </p:nvSpPr>
          <p:spPr>
            <a:xfrm>
              <a:off x="4983620" y="3493082"/>
              <a:ext cx="2023236" cy="717110"/>
            </a:xfrm>
            <a:prstGeom prst="roundRect">
              <a:avLst>
                <a:gd name="adj" fmla="val 14897"/>
              </a:avLst>
            </a:prstGeom>
            <a:solidFill>
              <a:srgbClr val="FFFFFF">
                <a:lumMod val="9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98" name="Rounded Rectangle 97">
              <a:extLst>
                <a:ext uri="{FF2B5EF4-FFF2-40B4-BE49-F238E27FC236}">
                  <a16:creationId xmlns:a16="http://schemas.microsoft.com/office/drawing/2014/main" id="{AB14D251-1148-CD84-68EA-169884B2D6C7}"/>
                </a:ext>
              </a:extLst>
            </p:cNvPr>
            <p:cNvSpPr/>
            <p:nvPr/>
          </p:nvSpPr>
          <p:spPr>
            <a:xfrm>
              <a:off x="5092306" y="3586455"/>
              <a:ext cx="1786960" cy="508234"/>
            </a:xfrm>
            <a:prstGeom prst="roundRect">
              <a:avLst/>
            </a:prstGeom>
            <a:solidFill>
              <a:srgbClr val="FFFFFF"/>
            </a:solidFill>
            <a:ln w="1079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7F1F136-A256-7917-69EE-8ECEEBDA710B}"/>
                </a:ext>
              </a:extLst>
            </p:cNvPr>
            <p:cNvSpPr txBox="1"/>
            <p:nvPr/>
          </p:nvSpPr>
          <p:spPr>
            <a:xfrm>
              <a:off x="5522015" y="3727966"/>
              <a:ext cx="132760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>
                  <a:solidFill>
                    <a:srgbClr val="080808"/>
                  </a:solidFill>
                  <a:latin typeface="Segoe UI"/>
                </a:rPr>
                <a:t>Populate field: issue</a:t>
              </a:r>
            </a:p>
          </p:txBody>
        </p: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84ED2020-10D1-1A93-3D7F-69F177FA9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205938" y="3710898"/>
              <a:ext cx="259347" cy="259347"/>
            </a:xfrm>
            <a:prstGeom prst="rect">
              <a:avLst/>
            </a:prstGeom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B152846-A60A-B8AE-4270-F97AB8FDB5DA}"/>
                </a:ext>
              </a:extLst>
            </p:cNvPr>
            <p:cNvSpPr txBox="1"/>
            <p:nvPr/>
          </p:nvSpPr>
          <p:spPr>
            <a:xfrm>
              <a:off x="5205482" y="4299544"/>
              <a:ext cx="117852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07641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Name field populated</a:t>
              </a:r>
            </a:p>
          </p:txBody>
        </p:sp>
        <p:pic>
          <p:nvPicPr>
            <p:cNvPr id="102" name="Graphic 101" descr="Checkmark with solid fill">
              <a:extLst>
                <a:ext uri="{FF2B5EF4-FFF2-40B4-BE49-F238E27FC236}">
                  <a16:creationId xmlns:a16="http://schemas.microsoft.com/office/drawing/2014/main" id="{B6D625FF-1755-195E-AC40-E88CA145BB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144243" y="4353433"/>
              <a:ext cx="107666" cy="107666"/>
            </a:xfrm>
            <a:prstGeom prst="rect">
              <a:avLst/>
            </a:prstGeom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C2CB1B0-D7D3-E674-FC4F-0D281AA961F9}"/>
                </a:ext>
              </a:extLst>
            </p:cNvPr>
            <p:cNvSpPr txBox="1"/>
            <p:nvPr/>
          </p:nvSpPr>
          <p:spPr>
            <a:xfrm>
              <a:off x="5205482" y="4473741"/>
              <a:ext cx="116089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07641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Issue  field populated</a:t>
              </a:r>
            </a:p>
          </p:txBody>
        </p:sp>
        <p:pic>
          <p:nvPicPr>
            <p:cNvPr id="104" name="Graphic 103" descr="Checkmark with solid fill">
              <a:extLst>
                <a:ext uri="{FF2B5EF4-FFF2-40B4-BE49-F238E27FC236}">
                  <a16:creationId xmlns:a16="http://schemas.microsoft.com/office/drawing/2014/main" id="{1A52D230-2D99-9411-F163-2E28A41086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144243" y="4527630"/>
              <a:ext cx="107666" cy="107666"/>
            </a:xfrm>
            <a:prstGeom prst="rect">
              <a:avLst/>
            </a:prstGeom>
          </p:spPr>
        </p:pic>
        <p:sp>
          <p:nvSpPr>
            <p:cNvPr id="105" name="Rounded Rectangle 104">
              <a:extLst>
                <a:ext uri="{FF2B5EF4-FFF2-40B4-BE49-F238E27FC236}">
                  <a16:creationId xmlns:a16="http://schemas.microsoft.com/office/drawing/2014/main" id="{BEA61545-8DE6-7F29-72EF-E51855A689B6}"/>
                </a:ext>
              </a:extLst>
            </p:cNvPr>
            <p:cNvSpPr/>
            <p:nvPr/>
          </p:nvSpPr>
          <p:spPr>
            <a:xfrm>
              <a:off x="5004332" y="4916303"/>
              <a:ext cx="1619851" cy="717110"/>
            </a:xfrm>
            <a:prstGeom prst="roundRect">
              <a:avLst>
                <a:gd name="adj" fmla="val 14897"/>
              </a:avLst>
            </a:prstGeom>
            <a:solidFill>
              <a:srgbClr val="FFFFFF">
                <a:lumMod val="9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06" name="Rounded Rectangle 105">
              <a:extLst>
                <a:ext uri="{FF2B5EF4-FFF2-40B4-BE49-F238E27FC236}">
                  <a16:creationId xmlns:a16="http://schemas.microsoft.com/office/drawing/2014/main" id="{A2AFA2F3-CF9D-72A5-1F6A-D6B6C23B2C56}"/>
                </a:ext>
              </a:extLst>
            </p:cNvPr>
            <p:cNvSpPr/>
            <p:nvPr/>
          </p:nvSpPr>
          <p:spPr>
            <a:xfrm>
              <a:off x="5113017" y="5009676"/>
              <a:ext cx="1395663" cy="508234"/>
            </a:xfrm>
            <a:prstGeom prst="roundRect">
              <a:avLst/>
            </a:prstGeom>
            <a:solidFill>
              <a:srgbClr val="FFFFFF"/>
            </a:solidFill>
            <a:ln w="1079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DDF71291-6B3F-E444-011A-D890478CF94D}"/>
                </a:ext>
              </a:extLst>
            </p:cNvPr>
            <p:cNvSpPr txBox="1"/>
            <p:nvPr/>
          </p:nvSpPr>
          <p:spPr>
            <a:xfrm>
              <a:off x="5542727" y="5151187"/>
              <a:ext cx="90441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>
                  <a:solidFill>
                    <a:srgbClr val="080808"/>
                  </a:solidFill>
                  <a:latin typeface="Segoe UI"/>
                </a:rPr>
                <a:t>Submit form</a:t>
              </a:r>
            </a:p>
          </p:txBody>
        </p:sp>
        <p:pic>
          <p:nvPicPr>
            <p:cNvPr id="108" name="Picture 107">
              <a:extLst>
                <a:ext uri="{FF2B5EF4-FFF2-40B4-BE49-F238E27FC236}">
                  <a16:creationId xmlns:a16="http://schemas.microsoft.com/office/drawing/2014/main" id="{1C6AEB34-05CF-44A2-2788-D1469A759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226650" y="5134119"/>
              <a:ext cx="259347" cy="259347"/>
            </a:xfrm>
            <a:prstGeom prst="rect">
              <a:avLst/>
            </a:prstGeom>
          </p:spPr>
        </p:pic>
        <p:pic>
          <p:nvPicPr>
            <p:cNvPr id="109" name="Picture 108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D9024B03-8988-665C-F052-7AD005704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9136" y="4831660"/>
              <a:ext cx="443198" cy="443198"/>
            </a:xfrm>
            <a:prstGeom prst="rect">
              <a:avLst/>
            </a:prstGeom>
          </p:spPr>
        </p:pic>
        <p:pic>
          <p:nvPicPr>
            <p:cNvPr id="110" name="Picture 109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3A216418-B590-A15B-DB0E-53CE497B1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2679" y="2736181"/>
              <a:ext cx="443198" cy="443198"/>
            </a:xfrm>
            <a:prstGeom prst="rect">
              <a:avLst/>
            </a:prstGeom>
          </p:spPr>
        </p:pic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D8D756B7-F57A-55AC-E652-AC249C7F15E2}"/>
                </a:ext>
              </a:extLst>
            </p:cNvPr>
            <p:cNvSpPr/>
            <p:nvPr/>
          </p:nvSpPr>
          <p:spPr>
            <a:xfrm>
              <a:off x="8762541" y="2790487"/>
              <a:ext cx="2009758" cy="717110"/>
            </a:xfrm>
            <a:prstGeom prst="roundRect">
              <a:avLst>
                <a:gd name="adj" fmla="val 14897"/>
              </a:avLst>
            </a:prstGeom>
            <a:solidFill>
              <a:srgbClr val="FFFFFF">
                <a:lumMod val="9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2" name="Rounded Rectangle 111">
              <a:extLst>
                <a:ext uri="{FF2B5EF4-FFF2-40B4-BE49-F238E27FC236}">
                  <a16:creationId xmlns:a16="http://schemas.microsoft.com/office/drawing/2014/main" id="{54C75462-C62A-E119-379A-7F5A3603E88E}"/>
                </a:ext>
              </a:extLst>
            </p:cNvPr>
            <p:cNvSpPr/>
            <p:nvPr/>
          </p:nvSpPr>
          <p:spPr>
            <a:xfrm>
              <a:off x="8871226" y="2883860"/>
              <a:ext cx="1786773" cy="508234"/>
            </a:xfrm>
            <a:prstGeom prst="roundRect">
              <a:avLst/>
            </a:prstGeom>
            <a:solidFill>
              <a:srgbClr val="FFFFFF"/>
            </a:solidFill>
            <a:ln w="1079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8EBD617-D577-7937-1080-94E490139355}"/>
                </a:ext>
              </a:extLst>
            </p:cNvPr>
            <p:cNvSpPr txBox="1"/>
            <p:nvPr/>
          </p:nvSpPr>
          <p:spPr>
            <a:xfrm>
              <a:off x="9300936" y="3025371"/>
              <a:ext cx="127310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>
                  <a:solidFill>
                    <a:srgbClr val="080808"/>
                  </a:solidFill>
                  <a:latin typeface="Segoe UI"/>
                </a:rPr>
                <a:t>Update work order</a:t>
              </a:r>
            </a:p>
          </p:txBody>
        </p:sp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916AD6B5-4ED8-9279-33DC-8FED5044A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013734" y="3008303"/>
              <a:ext cx="259347" cy="259347"/>
            </a:xfrm>
            <a:prstGeom prst="rect">
              <a:avLst/>
            </a:prstGeom>
          </p:spPr>
        </p:pic>
        <p:sp>
          <p:nvSpPr>
            <p:cNvPr id="115" name="Rounded Rectangle 114">
              <a:extLst>
                <a:ext uri="{FF2B5EF4-FFF2-40B4-BE49-F238E27FC236}">
                  <a16:creationId xmlns:a16="http://schemas.microsoft.com/office/drawing/2014/main" id="{43C46FA2-CFDE-72C4-FF2C-A2662374B52A}"/>
                </a:ext>
              </a:extLst>
            </p:cNvPr>
            <p:cNvSpPr/>
            <p:nvPr/>
          </p:nvSpPr>
          <p:spPr>
            <a:xfrm>
              <a:off x="8758730" y="4020838"/>
              <a:ext cx="1767638" cy="497216"/>
            </a:xfrm>
            <a:prstGeom prst="roundRect">
              <a:avLst>
                <a:gd name="adj" fmla="val 22084"/>
              </a:avLst>
            </a:prstGeom>
            <a:solidFill>
              <a:srgbClr val="FFFFFF">
                <a:lumMod val="9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Let me try again with an available technician.</a:t>
              </a:r>
            </a:p>
          </p:txBody>
        </p:sp>
        <p:pic>
          <p:nvPicPr>
            <p:cNvPr id="116" name="Picture 115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428231CF-BCE6-C8B6-12B8-8A2836C5B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2679" y="3915482"/>
              <a:ext cx="443198" cy="443198"/>
            </a:xfrm>
            <a:prstGeom prst="rect">
              <a:avLst/>
            </a:prstGeom>
          </p:spPr>
        </p:pic>
        <p:sp>
          <p:nvSpPr>
            <p:cNvPr id="117" name="Rounded Rectangle 116">
              <a:extLst>
                <a:ext uri="{FF2B5EF4-FFF2-40B4-BE49-F238E27FC236}">
                  <a16:creationId xmlns:a16="http://schemas.microsoft.com/office/drawing/2014/main" id="{1E24D60B-EBF4-8E29-3009-5982D987637B}"/>
                </a:ext>
              </a:extLst>
            </p:cNvPr>
            <p:cNvSpPr/>
            <p:nvPr/>
          </p:nvSpPr>
          <p:spPr>
            <a:xfrm>
              <a:off x="8735376" y="4558702"/>
              <a:ext cx="1995359" cy="717110"/>
            </a:xfrm>
            <a:prstGeom prst="roundRect">
              <a:avLst>
                <a:gd name="adj" fmla="val 14897"/>
              </a:avLst>
            </a:prstGeom>
            <a:solidFill>
              <a:srgbClr val="FFFFFF">
                <a:lumMod val="9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endParaRPr>
            </a:p>
          </p:txBody>
        </p:sp>
        <p:sp>
          <p:nvSpPr>
            <p:cNvPr id="118" name="Rounded Rectangle 117">
              <a:extLst>
                <a:ext uri="{FF2B5EF4-FFF2-40B4-BE49-F238E27FC236}">
                  <a16:creationId xmlns:a16="http://schemas.microsoft.com/office/drawing/2014/main" id="{48C300CD-22C0-E2DC-C7C4-40368B258AC3}"/>
                </a:ext>
              </a:extLst>
            </p:cNvPr>
            <p:cNvSpPr/>
            <p:nvPr/>
          </p:nvSpPr>
          <p:spPr>
            <a:xfrm>
              <a:off x="8844061" y="4652075"/>
              <a:ext cx="1782765" cy="508234"/>
            </a:xfrm>
            <a:prstGeom prst="roundRect">
              <a:avLst/>
            </a:prstGeom>
            <a:solidFill>
              <a:srgbClr val="FFFFFF"/>
            </a:solidFill>
            <a:ln w="10795" cap="flat" cmpd="sng" algn="ctr">
              <a:solidFill>
                <a:srgbClr val="FFFFFF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ED38DFF-AE27-0E14-F7CD-F01F995A9A7B}"/>
                </a:ext>
              </a:extLst>
            </p:cNvPr>
            <p:cNvSpPr txBox="1"/>
            <p:nvPr/>
          </p:nvSpPr>
          <p:spPr>
            <a:xfrm>
              <a:off x="9273771" y="4793586"/>
              <a:ext cx="127310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>
                  <a:solidFill>
                    <a:srgbClr val="080808"/>
                  </a:solidFill>
                  <a:latin typeface="Segoe UI"/>
                </a:rPr>
                <a:t>Update work order</a:t>
              </a:r>
            </a:p>
          </p:txBody>
        </p:sp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686BEC4C-F33F-F8C4-C365-A18E7B6F1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986569" y="4776518"/>
              <a:ext cx="259347" cy="259347"/>
            </a:xfrm>
            <a:prstGeom prst="rect">
              <a:avLst/>
            </a:prstGeom>
          </p:spPr>
        </p:pic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EA911AC-75A1-1785-E75D-B58F251855A8}"/>
                </a:ext>
              </a:extLst>
            </p:cNvPr>
            <p:cNvSpPr txBox="1"/>
            <p:nvPr/>
          </p:nvSpPr>
          <p:spPr>
            <a:xfrm>
              <a:off x="8902045" y="3506249"/>
              <a:ext cx="201369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FA930A">
                      <a:lumMod val="75000"/>
                    </a:srgbClr>
                  </a:solidFill>
                  <a:latin typeface="Segoe UI" panose="020B0502040204020203" pitchFamily="34" charset="0"/>
                  <a:ea typeface="Menlo" panose="020B0609030804020204" pitchFamily="49" charset="0"/>
                  <a:cs typeface="Segoe UI" panose="020B0502040204020203" pitchFamily="34" charset="0"/>
                </a:rPr>
                <a:t>Alex is already booked at this same time</a:t>
              </a:r>
              <a:endParaRPr lang="en-US" sz="800">
                <a:solidFill>
                  <a:srgbClr val="FA930A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9A7ABC9-16D9-5917-2017-F64638311D53}"/>
                </a:ext>
              </a:extLst>
            </p:cNvPr>
            <p:cNvSpPr txBox="1"/>
            <p:nvPr/>
          </p:nvSpPr>
          <p:spPr>
            <a:xfrm>
              <a:off x="8932465" y="5288773"/>
              <a:ext cx="162736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07641D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Successfully assigned technician</a:t>
              </a:r>
            </a:p>
          </p:txBody>
        </p:sp>
        <p:pic>
          <p:nvPicPr>
            <p:cNvPr id="123" name="Graphic 122" descr="Close with solid fill">
              <a:extLst>
                <a:ext uri="{FF2B5EF4-FFF2-40B4-BE49-F238E27FC236}">
                  <a16:creationId xmlns:a16="http://schemas.microsoft.com/office/drawing/2014/main" id="{F7AC6EED-8DE7-CF93-F4B8-32A0FAB772A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57784" y="3547778"/>
              <a:ext cx="107666" cy="107666"/>
            </a:xfrm>
            <a:prstGeom prst="rect">
              <a:avLst/>
            </a:prstGeom>
          </p:spPr>
        </p:pic>
        <p:pic>
          <p:nvPicPr>
            <p:cNvPr id="124" name="Graphic 123" descr="Checkmark with solid fill">
              <a:extLst>
                <a:ext uri="{FF2B5EF4-FFF2-40B4-BE49-F238E27FC236}">
                  <a16:creationId xmlns:a16="http://schemas.microsoft.com/office/drawing/2014/main" id="{5D74A26D-B8FC-76E3-1543-850F8A19C0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871226" y="5342662"/>
              <a:ext cx="107666" cy="107666"/>
            </a:xfrm>
            <a:prstGeom prst="rect">
              <a:avLst/>
            </a:prstGeom>
          </p:spPr>
        </p:pic>
        <p:sp>
          <p:nvSpPr>
            <p:cNvPr id="125" name="Rounded Rectangle 124">
              <a:extLst>
                <a:ext uri="{FF2B5EF4-FFF2-40B4-BE49-F238E27FC236}">
                  <a16:creationId xmlns:a16="http://schemas.microsoft.com/office/drawing/2014/main" id="{17A6BD76-8A42-5A3A-B734-081D905587E8}"/>
                </a:ext>
              </a:extLst>
            </p:cNvPr>
            <p:cNvSpPr/>
            <p:nvPr/>
          </p:nvSpPr>
          <p:spPr>
            <a:xfrm>
              <a:off x="9889071" y="2243593"/>
              <a:ext cx="1347355" cy="327150"/>
            </a:xfrm>
            <a:prstGeom prst="roundRect">
              <a:avLst>
                <a:gd name="adj" fmla="val 32755"/>
              </a:avLst>
            </a:prstGeom>
            <a:solidFill>
              <a:srgbClr val="35B884">
                <a:lumMod val="75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Assign technician</a:t>
              </a:r>
            </a:p>
          </p:txBody>
        </p:sp>
        <p:pic>
          <p:nvPicPr>
            <p:cNvPr id="126" name="Graphic 125" descr="Add with solid fill">
              <a:extLst>
                <a:ext uri="{FF2B5EF4-FFF2-40B4-BE49-F238E27FC236}">
                  <a16:creationId xmlns:a16="http://schemas.microsoft.com/office/drawing/2014/main" id="{02703BCE-833D-2EC6-B4D9-31D59D7F9A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56679" y="3716411"/>
              <a:ext cx="109728" cy="109728"/>
            </a:xfrm>
            <a:prstGeom prst="rect">
              <a:avLst/>
            </a:prstGeom>
          </p:spPr>
        </p:pic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33E7BCA4-DC2E-FD2A-F894-10509D2E683F}"/>
                </a:ext>
              </a:extLst>
            </p:cNvPr>
            <p:cNvSpPr txBox="1"/>
            <p:nvPr/>
          </p:nvSpPr>
          <p:spPr>
            <a:xfrm>
              <a:off x="8902045" y="3674640"/>
              <a:ext cx="19127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>
                  <a:solidFill>
                    <a:srgbClr val="C03BC4">
                      <a:lumMod val="75000"/>
                    </a:srgbClr>
                  </a:solidFill>
                  <a:latin typeface="Segoe UI" panose="020B0502040204020203" pitchFamily="34" charset="0"/>
                  <a:ea typeface="Menlo" panose="020B0609030804020204" pitchFamily="49" charset="0"/>
                  <a:cs typeface="Segoe UI" panose="020B0502040204020203" pitchFamily="34" charset="0"/>
                </a:rPr>
                <a:t>Saved memory: Alex is OOF next week</a:t>
              </a:r>
              <a:endParaRPr lang="en-US" sz="800">
                <a:solidFill>
                  <a:srgbClr val="C03BC4">
                    <a:lumMod val="75000"/>
                  </a:srgb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075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684DDFB7-1E67-D418-9680-82113FE4834D}"/>
              </a:ext>
            </a:extLst>
          </p:cNvPr>
          <p:cNvGrpSpPr/>
          <p:nvPr/>
        </p:nvGrpSpPr>
        <p:grpSpPr>
          <a:xfrm>
            <a:off x="1636641" y="1310412"/>
            <a:ext cx="8534457" cy="4620124"/>
            <a:chOff x="818035" y="1597795"/>
            <a:chExt cx="8534457" cy="4620124"/>
          </a:xfrm>
        </p:grpSpPr>
        <p:sp>
          <p:nvSpPr>
            <p:cNvPr id="22" name="Rounded Rectangle 12">
              <a:extLst>
                <a:ext uri="{FF2B5EF4-FFF2-40B4-BE49-F238E27FC236}">
                  <a16:creationId xmlns:a16="http://schemas.microsoft.com/office/drawing/2014/main" id="{C559F333-44B3-343B-621D-DEFAD188D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818035" y="1597795"/>
              <a:ext cx="3003196" cy="4620124"/>
            </a:xfrm>
            <a:prstGeom prst="roundRect">
              <a:avLst>
                <a:gd name="adj" fmla="val 4765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0" tIns="9144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110155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Segoe UI"/>
                <a:ea typeface="+mn-ea"/>
                <a:cs typeface="Segoe UI Light" panose="020B0502040204020203" pitchFamily="34" charset="0"/>
              </a:endParaRPr>
            </a:p>
          </p:txBody>
        </p:sp>
        <p:sp>
          <p:nvSpPr>
            <p:cNvPr id="23" name="Rectangle: Rounded Corners 12">
              <a:extLst>
                <a:ext uri="{FF2B5EF4-FFF2-40B4-BE49-F238E27FC236}">
                  <a16:creationId xmlns:a16="http://schemas.microsoft.com/office/drawing/2014/main" id="{77B202F8-4079-871F-8B31-68BBD0E34146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183641" y="2454177"/>
              <a:ext cx="2282458" cy="369332"/>
            </a:xfrm>
            <a:prstGeom prst="roundRect">
              <a:avLst>
                <a:gd name="adj" fmla="val 31494"/>
              </a:avLst>
            </a:prstGeom>
            <a:solidFill>
              <a:srgbClr val="8661C5"/>
            </a:solidFill>
            <a:ln w="12700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0" bIns="1828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00" b="0" i="0" u="none" strike="noStrike" cap="none" spc="0" normalizeH="0" baseline="0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LLM</a:t>
              </a:r>
            </a:p>
          </p:txBody>
        </p:sp>
        <p:sp>
          <p:nvSpPr>
            <p:cNvPr id="24" name="Rectangle: Rounded Corners 12">
              <a:extLst>
                <a:ext uri="{FF2B5EF4-FFF2-40B4-BE49-F238E27FC236}">
                  <a16:creationId xmlns:a16="http://schemas.microsoft.com/office/drawing/2014/main" id="{55BC9543-B9D5-1A8D-FAAC-D789550ED6EA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183641" y="2870617"/>
              <a:ext cx="2282458" cy="1087384"/>
            </a:xfrm>
            <a:prstGeom prst="roundRect">
              <a:avLst>
                <a:gd name="adj" fmla="val 10301"/>
              </a:avLst>
            </a:prstGeom>
            <a:solidFill>
              <a:srgbClr val="C03BC4"/>
            </a:solidFill>
            <a:ln w="12700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0" bIns="1828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00" b="0" i="0" u="none" strike="noStrike" cap="none" spc="0" normalizeH="0" baseline="0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Instructions</a:t>
              </a:r>
            </a:p>
          </p:txBody>
        </p:sp>
        <p:sp>
          <p:nvSpPr>
            <p:cNvPr id="25" name="Rectangle: Rounded Corners 12">
              <a:extLst>
                <a:ext uri="{FF2B5EF4-FFF2-40B4-BE49-F238E27FC236}">
                  <a16:creationId xmlns:a16="http://schemas.microsoft.com/office/drawing/2014/main" id="{87E00C9A-1C29-6C15-2770-88105F95C667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1183641" y="4005106"/>
              <a:ext cx="2282458" cy="1858981"/>
            </a:xfrm>
            <a:prstGeom prst="roundRect">
              <a:avLst>
                <a:gd name="adj" fmla="val 6852"/>
              </a:avLst>
            </a:prstGeom>
            <a:solidFill>
              <a:srgbClr val="D4EC8E"/>
            </a:solidFill>
            <a:ln w="12700" cap="flat">
              <a:noFill/>
              <a:prstDash val="solid"/>
              <a:miter/>
            </a:ln>
            <a:effectLst/>
          </p:spPr>
          <p:txBody>
            <a:bodyPr rot="0" spcFirstLastPara="0" vertOverflow="overflow" horzOverflow="overflow" vert="horz" wrap="square" lIns="91440" tIns="45720" rIns="0" bIns="1828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300" b="0" i="0" u="none" strike="noStrike" cap="none" spc="0" normalizeH="0" baseline="0">
                  <a:ln w="3175">
                    <a:noFill/>
                  </a:ln>
                  <a:gradFill>
                    <a:gsLst>
                      <a:gs pos="53147">
                        <a:srgbClr val="FFFFFF"/>
                      </a:gs>
                      <a:gs pos="28000">
                        <a:srgbClr val="FFFFFF"/>
                      </a:gs>
                    </a:gsLst>
                    <a:path path="circle">
                      <a:fillToRect l="100000" b="100000"/>
                    </a:path>
                  </a:gra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0" cap="none" spc="0" normalizeH="0" baseline="0" noProof="0">
                  <a:ln w="3175"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Tools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A8EB9DC-10B2-2474-1169-505CCE4BF58C}"/>
                </a:ext>
              </a:extLst>
            </p:cNvPr>
            <p:cNvSpPr txBox="1"/>
            <p:nvPr/>
          </p:nvSpPr>
          <p:spPr>
            <a:xfrm>
              <a:off x="1563351" y="1853060"/>
              <a:ext cx="1538343" cy="369332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 defTabSz="1371600">
                <a:tabLst>
                  <a:tab pos="1371600" algn="l"/>
                </a:tabLst>
                <a:defRPr/>
              </a:pPr>
              <a:r>
                <a:rPr lang="en-US" sz="2400">
                  <a:ln w="3175">
                    <a:noFill/>
                  </a:ln>
                  <a:solidFill>
                    <a:srgbClr val="080808"/>
                  </a:solidFill>
                  <a:latin typeface="Segoe UI Semibold"/>
                  <a:cs typeface="Segoe UI" panose="020B0502040204020203" pitchFamily="34" charset="0"/>
                </a:rPr>
                <a:t>Agent</a:t>
              </a:r>
            </a:p>
          </p:txBody>
        </p:sp>
        <p:pic>
          <p:nvPicPr>
            <p:cNvPr id="27" name="Picture 26" descr="A colorful hexagon with stars&#10;&#10;Description automatically generated">
              <a:extLst>
                <a:ext uri="{FF2B5EF4-FFF2-40B4-BE49-F238E27FC236}">
                  <a16:creationId xmlns:a16="http://schemas.microsoft.com/office/drawing/2014/main" id="{1DCB4715-D143-AE35-FE4E-FB752A9AB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446" y="1612815"/>
              <a:ext cx="714360" cy="714360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2C2832B-C968-DEA3-B11D-D4ECD527D258}"/>
                </a:ext>
              </a:extLst>
            </p:cNvPr>
            <p:cNvCxnSpPr/>
            <p:nvPr/>
          </p:nvCxnSpPr>
          <p:spPr>
            <a:xfrm>
              <a:off x="4220096" y="1603190"/>
              <a:ext cx="0" cy="4600876"/>
            </a:xfrm>
            <a:prstGeom prst="line">
              <a:avLst/>
            </a:prstGeom>
            <a:noFill/>
            <a:ln w="9525" cap="flat" cmpd="sng" algn="ctr">
              <a:solidFill>
                <a:srgbClr val="FFFFFF">
                  <a:alpha val="49000"/>
                </a:srgbClr>
              </a:solidFill>
              <a:prstDash val="solid"/>
            </a:ln>
            <a:effectLst/>
          </p:spPr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ADFE4E9-1AF4-ACA8-D23F-A83EB6D21EA6}"/>
                </a:ext>
              </a:extLst>
            </p:cNvPr>
            <p:cNvSpPr txBox="1"/>
            <p:nvPr/>
          </p:nvSpPr>
          <p:spPr>
            <a:xfrm>
              <a:off x="4305575" y="2632018"/>
              <a:ext cx="5046917" cy="31393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User: My washer machine is making weird noises</a:t>
              </a:r>
            </a:p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Agent: </a:t>
              </a:r>
              <a:r>
                <a:rPr lang="en-US" sz="1100" i="1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Recall user washing machine</a:t>
              </a:r>
              <a:endParaRPr lang="en-US" sz="1100" dirty="0">
                <a:solidFill>
                  <a:schemeClr val="bg2">
                    <a:lumMod val="2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Tool: User has w100 with </a:t>
              </a:r>
              <a:r>
                <a:rPr lang="en-US" sz="1100" dirty="0" err="1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sn</a:t>
              </a:r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: 142352</a:t>
              </a:r>
            </a:p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Agent: I’ll see what could be causing your w100 issues</a:t>
              </a:r>
            </a:p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Agent: </a:t>
              </a:r>
              <a:r>
                <a:rPr lang="en-US" sz="1100" i="1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Search manuals</a:t>
              </a:r>
            </a:p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Agent: It looks like there are three common reasons</a:t>
              </a:r>
            </a:p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Agent: I’ll check your machine if it has any notices</a:t>
              </a:r>
            </a:p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Agent: </a:t>
              </a:r>
              <a:r>
                <a:rPr lang="en-US" sz="1100" i="1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Check logs for 142352</a:t>
              </a:r>
              <a:endParaRPr lang="en-US" sz="1100" dirty="0">
                <a:solidFill>
                  <a:schemeClr val="bg2">
                    <a:lumMod val="2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Agent: It looks like your machine is due for maintenance and is still under warranty. Want me to schedule an appointment?</a:t>
              </a:r>
            </a:p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User: Sure! Let’s target early next week</a:t>
              </a:r>
            </a:p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Agent: </a:t>
              </a:r>
              <a:r>
                <a:rPr lang="en-US" sz="1100" i="1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Look for available times</a:t>
              </a:r>
              <a:endParaRPr lang="en-US" sz="1100" dirty="0">
                <a:solidFill>
                  <a:schemeClr val="bg2">
                    <a:lumMod val="25000"/>
                  </a:schemeClr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Agent: Would Monday at 1:00pm work?</a:t>
              </a:r>
            </a:p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User: Let’s do it!</a:t>
              </a:r>
            </a:p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Agent: </a:t>
              </a:r>
              <a:r>
                <a:rPr lang="en-US" sz="1100" i="1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Create workorder</a:t>
              </a:r>
            </a:p>
            <a:p>
              <a:r>
                <a:rPr lang="en-US" sz="1100" dirty="0">
                  <a:solidFill>
                    <a:schemeClr val="bg2">
                      <a:lumMod val="25000"/>
                    </a:schemeClr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Agent: Done! Is there anything else I could help you with?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8EDDB60C-B2D3-BF62-A048-10AE9C22CD89}"/>
                </a:ext>
              </a:extLst>
            </p:cNvPr>
            <p:cNvSpPr/>
            <p:nvPr/>
          </p:nvSpPr>
          <p:spPr>
            <a:xfrm>
              <a:off x="2700889" y="2501213"/>
              <a:ext cx="694421" cy="261610"/>
            </a:xfrm>
            <a:prstGeom prst="roundRect">
              <a:avLst>
                <a:gd name="adj" fmla="val 31864"/>
              </a:avLst>
            </a:prstGeom>
            <a:solidFill>
              <a:srgbClr val="8661C5">
                <a:lumMod val="20000"/>
                <a:lumOff val="8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GPT-4o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EB78A4F4-85C9-AD9F-255D-6BF8CF175F48}"/>
                </a:ext>
              </a:extLst>
            </p:cNvPr>
            <p:cNvSpPr/>
            <p:nvPr/>
          </p:nvSpPr>
          <p:spPr>
            <a:xfrm>
              <a:off x="1302784" y="3189684"/>
              <a:ext cx="2046703" cy="656762"/>
            </a:xfrm>
            <a:prstGeom prst="roundRect">
              <a:avLst>
                <a:gd name="adj" fmla="val 9163"/>
              </a:avLst>
            </a:prstGeom>
            <a:solidFill>
              <a:srgbClr val="35B884">
                <a:lumMod val="20000"/>
                <a:lumOff val="8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C03BC4">
                      <a:lumMod val="50000"/>
                    </a:srgbClr>
                  </a:solidFill>
                  <a:effectLst/>
                  <a:uLnTx/>
                  <a:uFillTx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You’re responsible for helping customers with their appliances</a:t>
              </a:r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EF6EC284-7D9A-2EE8-6FAD-B3D365A675FE}"/>
                </a:ext>
              </a:extLst>
            </p:cNvPr>
            <p:cNvSpPr/>
            <p:nvPr/>
          </p:nvSpPr>
          <p:spPr>
            <a:xfrm>
              <a:off x="1296281" y="4357856"/>
              <a:ext cx="1804728" cy="308675"/>
            </a:xfrm>
            <a:prstGeom prst="roundRect">
              <a:avLst>
                <a:gd name="adj" fmla="val 18823"/>
              </a:avLst>
            </a:prstGeom>
            <a:solidFill>
              <a:srgbClr val="D4EC8E">
                <a:lumMod val="20000"/>
                <a:lumOff val="8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lIns="36576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D4EC8E">
                      <a:lumMod val="50000"/>
                    </a:srgbClr>
                  </a:solidFill>
                  <a:effectLst/>
                  <a:uLnTx/>
                  <a:uFillTx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Appliance manuals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5FDDE4D5-1C2E-DB4B-668A-0A71F8B57E60}"/>
                </a:ext>
              </a:extLst>
            </p:cNvPr>
            <p:cNvSpPr/>
            <p:nvPr/>
          </p:nvSpPr>
          <p:spPr>
            <a:xfrm>
              <a:off x="1288909" y="4720110"/>
              <a:ext cx="2045962" cy="308675"/>
            </a:xfrm>
            <a:prstGeom prst="roundRect">
              <a:avLst>
                <a:gd name="adj" fmla="val 18823"/>
              </a:avLst>
            </a:prstGeom>
            <a:solidFill>
              <a:srgbClr val="D4EC8E">
                <a:lumMod val="20000"/>
                <a:lumOff val="8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lIns="36576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D4EC8E">
                      <a:lumMod val="50000"/>
                    </a:srgbClr>
                  </a:solidFill>
                  <a:effectLst/>
                  <a:uLnTx/>
                  <a:uFillTx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Check appliance logs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E10E6749-C826-8ABB-2CF7-D4836B5D5445}"/>
                </a:ext>
              </a:extLst>
            </p:cNvPr>
            <p:cNvSpPr/>
            <p:nvPr/>
          </p:nvSpPr>
          <p:spPr>
            <a:xfrm>
              <a:off x="1290637" y="5075890"/>
              <a:ext cx="1715276" cy="308675"/>
            </a:xfrm>
            <a:prstGeom prst="roundRect">
              <a:avLst>
                <a:gd name="adj" fmla="val 18823"/>
              </a:avLst>
            </a:prstGeom>
            <a:solidFill>
              <a:srgbClr val="D4EC8E">
                <a:lumMod val="20000"/>
                <a:lumOff val="8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lIns="36576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D4EC8E">
                      <a:lumMod val="50000"/>
                    </a:srgbClr>
                  </a:solidFill>
                  <a:effectLst/>
                  <a:uLnTx/>
                  <a:uFillTx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Create workorder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774709CA-3E94-F37D-096A-6E349A3702B9}"/>
                </a:ext>
              </a:extLst>
            </p:cNvPr>
            <p:cNvSpPr/>
            <p:nvPr/>
          </p:nvSpPr>
          <p:spPr>
            <a:xfrm>
              <a:off x="1290338" y="5430267"/>
              <a:ext cx="1983440" cy="308675"/>
            </a:xfrm>
            <a:prstGeom prst="roundRect">
              <a:avLst>
                <a:gd name="adj" fmla="val 18823"/>
              </a:avLst>
            </a:prstGeom>
            <a:solidFill>
              <a:srgbClr val="D4EC8E">
                <a:lumMod val="20000"/>
                <a:lumOff val="80000"/>
              </a:srgbClr>
            </a:solidFill>
            <a:ln w="10795" cap="flat" cmpd="sng" algn="ctr">
              <a:noFill/>
              <a:prstDash val="solid"/>
            </a:ln>
            <a:effectLst/>
          </p:spPr>
          <p:txBody>
            <a:bodyPr lIns="36576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>
                  <a:ln>
                    <a:noFill/>
                  </a:ln>
                  <a:solidFill>
                    <a:srgbClr val="D4EC8E">
                      <a:lumMod val="50000"/>
                    </a:srgbClr>
                  </a:solidFill>
                  <a:effectLst/>
                  <a:uLnTx/>
                  <a:uFillTx/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Recall user details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BE9D614F-2252-F6F6-B744-658F426997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8607" y="4397947"/>
              <a:ext cx="221835" cy="22183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161A65E2-38DC-F53D-EFE4-E4FECB5BA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63431" y="5116538"/>
              <a:ext cx="214194" cy="21419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67773BA7-FE85-0413-2926-A75CA444F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60494" y="5479968"/>
              <a:ext cx="209271" cy="20927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2A23A79-3FEB-DBB1-3CA9-64274B8FB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0267" y="4759185"/>
              <a:ext cx="221835" cy="22183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1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32154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5907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CDAD3-D066-F04E-B803-5A1A51128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289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7D719-F3A4-D7FF-B296-208199802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76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E74-BD5D-AD5B-8815-3A3F07CA5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5446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A34D2-1F0E-AB2E-264E-0623264A0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799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FAE70-9973-3B1F-0B4D-FF87859F7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844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82023-11A1-4678-9FCF-64F13A131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362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22FDF-A0DE-23CA-F1B6-A77894F8D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0816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A2C15-84C4-4944-4EDD-5E388CCE5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4339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829F9-D538-ABEE-455F-BB689844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588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35AAF-5D4D-11E4-287A-EA02B613E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565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14EF3-5E45-FBB0-9AF2-6270F8CA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703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314</Words>
  <Application>Microsoft Macintosh PowerPoint</Application>
  <PresentationFormat>Widescreen</PresentationFormat>
  <Paragraphs>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Menlo</vt:lpstr>
      <vt:lpstr>Segoe UI</vt:lpstr>
      <vt:lpstr>Segoe UI Semibold</vt:lpstr>
      <vt:lpstr>Segoe UI Semilight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Paula Silva</dc:creator>
  <cp:lastModifiedBy>Paula Silva</cp:lastModifiedBy>
  <cp:revision>2</cp:revision>
  <dcterms:created xsi:type="dcterms:W3CDTF">2026-04-10T19:49:15Z</dcterms:created>
  <dcterms:modified xsi:type="dcterms:W3CDTF">2026-04-10T19:59:54Z</dcterms:modified>
</cp:coreProperties>
</file>